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Anndy. Over the last few weeks I've built four free web apps to fix the things that annoy me most about uni. If you want to follow along, scan the QR code now — it opens on your phone, no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show of hands — who has lost track of a due date this term? Who has a pile of readings they haven't touched? These are rough numbers for a full course load, but you get the idea. Each app I'm about to show you tackles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lives at one address: thepastor.github.io. From there you can open any of the four. They're all free, they all run in your browser, and none of them makes you sign up before you can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Syllabus Desk is the one I use most. You add each course outline once — paste it or drop in the PDF — and it finds every dated item. Nothing is guessed: if the outline doesn't give a date, it's flagged. Then you export the whole term to your phone's calendar. There's an example term you can load to see how it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process. Add a course, check the dates, repeat, export. The tip at the bottom comes straight from the app's own help: put it in its own calendar so it's easy to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 Made EZ is for the week before a midterm. Give it your lecture slides or notes and it builds flashcards, a summary, the key points and a practice quiz. It all happens in your browser — your files aren't uploaded anywhere. There's also a library of full courses written out if you want to review a subject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science bit: quizzing yourself — retrieval practice — works better than rereading or highlighting. UNI Made EZ just makes that the easy option. Four steps: open it, add your file, pick a mode,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Fast uses a technique called RSVP — rapid serial visual presentation. Instead of your eyes moving across lines, the words come to you in one spot. Start slow, around 200 words a minute, and bump it up. It's great for getting through long readings on the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is for anyone with a language requirement, or anyone who just wants to learn one. It's built like the big language apps — lessons, streaks, games — but free and with no ads. You earn XP and your character grows as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benefits: free, nothing to download, works on your phone, most of it works offline, and there are no 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care about this one, so here's exactly what happens to your data. Read Fast and UNI Made EZ do everything in your browser. Syllabus Desk sends the outline text to Claude, an AI model, to read the dates — that's the only thing that leaves your device. Vamos saves progress to an account once you've earned 100 XP, so you don't lose it. And to be clear, these are my own projects, not official TRU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once and the app sits on your home screen, opens full-screen, and most of them work offline. On iPhone it's Share, Add to Home Screen. On Android it's the three-dot menu, Install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try it right now. Scan the code, open Syllabus Desk, and load the example term. If you've got this class's outline handy, paste it in and see the dates appear. I'll give you two minutes, then I'll show it on the big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All four apps are free at thepastor.github.io. Try one this week, and if there's something you wish it did, email me — I build new features based on what students ask for.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F13"/>
        </a:solidFill>
      </p:bgPr>
    </p:bg>
    <p:spTree>
      <p:nvGrpSpPr>
        <p:cNvPr id="1" name=""/>
        <p:cNvGrpSpPr/>
        <p:nvPr/>
      </p:nvGrpSpPr>
      <p:grpSpPr>
        <a:xfrm>
          <a:off x="0" y="0"/>
          <a:ext cx="0" cy="0"/>
          <a:chOff x="0" y="0"/>
          <a:chExt cx="0" cy="0"/>
        </a:xfrm>
      </p:grpSpPr>
      <p:sp>
        <p:nvSpPr>
          <p:cNvPr id="2" name="Text 0"/>
          <p:cNvSpPr txBox="1"/>
          <p:nvPr/>
        </p:nvSpPr>
        <p:spPr>
          <a:xfrm>
            <a:off x="640080" y="548640"/>
            <a:ext cx="3657600" cy="40233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Johnson</a:t>
            </a:r>
            <a:pPr indent="0" marL="0">
              <a:buNone/>
            </a:pPr>
            <a:r>
              <a:rPr lang="en-US" sz="2200" b="1" dirty="0">
                <a:solidFill>
                  <a:srgbClr val="EBB64E"/>
                </a:solidFill>
                <a:latin typeface="Calibri" pitchFamily="34" charset="0"/>
                <a:ea typeface="Calibri" pitchFamily="34" charset="-122"/>
                <a:cs typeface="Calibri" pitchFamily="34" charset="-120"/>
              </a:rPr>
              <a:t>[X]</a:t>
            </a:r>
            <a:pPr indent="0" marL="0">
              <a:buNone/>
            </a:pPr>
            <a:r>
              <a:rPr lang="en-US" sz="2200" b="1" dirty="0">
                <a:solidFill>
                  <a:srgbClr val="FFFFFF"/>
                </a:solidFill>
                <a:latin typeface="Calibri" pitchFamily="34" charset="0"/>
                <a:ea typeface="Calibri" pitchFamily="34" charset="-122"/>
                <a:cs typeface="Calibri" pitchFamily="34" charset="-120"/>
              </a:rPr>
              <a:t>Corp</a:t>
            </a:r>
            <a:endParaRPr lang="en-US" sz="2200" dirty="0"/>
          </a:p>
        </p:txBody>
      </p:sp>
      <p:sp>
        <p:nvSpPr>
          <p:cNvPr id="3" name="Text 1"/>
          <p:cNvSpPr txBox="1"/>
          <p:nvPr/>
        </p:nvSpPr>
        <p:spPr>
          <a:xfrm>
            <a:off x="640080" y="1737360"/>
            <a:ext cx="5486400" cy="320040"/>
          </a:xfrm>
          <a:prstGeom prst="rect">
            <a:avLst/>
          </a:prstGeom>
          <a:noFill/>
          <a:ln/>
        </p:spPr>
        <p:txBody>
          <a:bodyPr wrap="square" lIns="0" tIns="0" rIns="0" bIns="0" rtlCol="0" anchor="ctr"/>
          <a:lstStyle/>
          <a:p>
            <a:pPr indent="0" marL="0">
              <a:buNone/>
            </a:pPr>
            <a:r>
              <a:rPr lang="en-US" sz="1300" b="1" spc="200" kern="0" dirty="0">
                <a:solidFill>
                  <a:srgbClr val="EBB64E"/>
                </a:solidFill>
                <a:latin typeface="Courier New" pitchFamily="34" charset="0"/>
                <a:ea typeface="Courier New" pitchFamily="34" charset="-122"/>
                <a:cs typeface="Courier New" pitchFamily="34" charset="-120"/>
              </a:rPr>
              <a:t>[ BUILT BY A STUDENT, FOR STUDENTS ]</a:t>
            </a:r>
            <a:endParaRPr lang="en-US" sz="1300" dirty="0"/>
          </a:p>
        </p:txBody>
      </p:sp>
      <p:sp>
        <p:nvSpPr>
          <p:cNvPr id="4" name="Text 2"/>
          <p:cNvSpPr txBox="1"/>
          <p:nvPr/>
        </p:nvSpPr>
        <p:spPr>
          <a:xfrm>
            <a:off x="640080" y="2148840"/>
            <a:ext cx="7315200" cy="182880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Four free apps that</a:t>
            </a:r>
            <a:endParaRPr lang="en-US" sz="5200" dirty="0"/>
          </a:p>
          <a:p>
            <a:pPr indent="0" marL="0">
              <a:buNone/>
            </a:pPr>
            <a:r>
              <a:rPr lang="en-US" sz="5200" b="1" dirty="0">
                <a:solidFill>
                  <a:srgbClr val="FFFFFF"/>
                </a:solidFill>
                <a:latin typeface="Calibri" pitchFamily="34" charset="0"/>
                <a:ea typeface="Calibri" pitchFamily="34" charset="-122"/>
                <a:cs typeface="Calibri" pitchFamily="34" charset="-120"/>
              </a:rPr>
              <a:t>make uni </a:t>
            </a:r>
            <a:pPr indent="0" marL="0">
              <a:buNone/>
            </a:pPr>
            <a:r>
              <a:rPr lang="en-US" sz="5200" b="1" dirty="0">
                <a:solidFill>
                  <a:srgbClr val="EBB64E"/>
                </a:solidFill>
                <a:latin typeface="Calibri" pitchFamily="34" charset="0"/>
                <a:ea typeface="Calibri" pitchFamily="34" charset="-122"/>
                <a:cs typeface="Calibri" pitchFamily="34" charset="-120"/>
              </a:rPr>
              <a:t>easier.</a:t>
            </a:r>
            <a:endParaRPr lang="en-US" sz="5200" dirty="0"/>
          </a:p>
        </p:txBody>
      </p:sp>
      <p:sp>
        <p:nvSpPr>
          <p:cNvPr id="5" name="Text 3"/>
          <p:cNvSpPr txBox="1"/>
          <p:nvPr/>
        </p:nvSpPr>
        <p:spPr>
          <a:xfrm>
            <a:off x="640080" y="4160520"/>
            <a:ext cx="6583680" cy="822960"/>
          </a:xfrm>
          <a:prstGeom prst="rect">
            <a:avLst/>
          </a:prstGeom>
          <a:noFill/>
          <a:ln/>
        </p:spPr>
        <p:txBody>
          <a:bodyPr wrap="square" lIns="0" tIns="0" rIns="0" bIns="0" rtlCol="0" anchor="ctr"/>
          <a:lstStyle/>
          <a:p>
            <a:pPr indent="0" marL="0">
              <a:buNone/>
            </a:pPr>
            <a:r>
              <a:rPr lang="en-US" sz="1800" dirty="0">
                <a:solidFill>
                  <a:srgbClr val="B4BAC4"/>
                </a:solidFill>
                <a:latin typeface="Calibri" pitchFamily="34" charset="0"/>
                <a:ea typeface="Calibri" pitchFamily="34" charset="-122"/>
                <a:cs typeface="Calibri" pitchFamily="34" charset="-120"/>
              </a:rPr>
              <a:t>Plan your term, study your notes, read faster and learn a language. All in your browser, all free.</a:t>
            </a:r>
            <a:endParaRPr lang="en-US" sz="1800" dirty="0"/>
          </a:p>
        </p:txBody>
      </p:sp>
      <p:sp>
        <p:nvSpPr>
          <p:cNvPr id="6" name="Shape 4"/>
          <p:cNvSpPr/>
          <p:nvPr/>
        </p:nvSpPr>
        <p:spPr>
          <a:xfrm>
            <a:off x="8229600" y="1417320"/>
            <a:ext cx="3291840" cy="4023360"/>
          </a:xfrm>
          <a:prstGeom prst="roundRect">
            <a:avLst>
              <a:gd name="adj" fmla="val 5556"/>
            </a:avLst>
          </a:prstGeom>
          <a:solidFill>
            <a:srgbClr val="171B22"/>
          </a:solidFill>
          <a:ln w="12700">
            <a:solidFill>
              <a:srgbClr val="2C323C"/>
            </a:solidFill>
            <a:prstDash val="solid"/>
          </a:ln>
        </p:spPr>
      </p:sp>
      <p:pic>
        <p:nvPicPr>
          <p:cNvPr id="7" name="Image 0" descr="/home/claude/deck/img/qr-dark.png">    </p:cNvPr>
          <p:cNvPicPr>
            <a:picLocks noChangeAspect="1"/>
          </p:cNvPicPr>
          <p:nvPr/>
        </p:nvPicPr>
        <p:blipFill>
          <a:blip r:embed="rId1"/>
          <a:stretch>
            <a:fillRect/>
          </a:stretch>
        </p:blipFill>
        <p:spPr>
          <a:xfrm>
            <a:off x="8641080" y="1783080"/>
            <a:ext cx="2468880" cy="2468880"/>
          </a:xfrm>
          <a:prstGeom prst="rect">
            <a:avLst/>
          </a:prstGeom>
        </p:spPr>
      </p:pic>
      <p:sp>
        <p:nvSpPr>
          <p:cNvPr id="8" name="Text 5"/>
          <p:cNvSpPr txBox="1"/>
          <p:nvPr/>
        </p:nvSpPr>
        <p:spPr>
          <a:xfrm>
            <a:off x="8229600" y="4389120"/>
            <a:ext cx="32918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Scan to open</a:t>
            </a:r>
            <a:endParaRPr lang="en-US" sz="1600" dirty="0"/>
          </a:p>
        </p:txBody>
      </p:sp>
      <p:sp>
        <p:nvSpPr>
          <p:cNvPr id="9" name="Text 6"/>
          <p:cNvSpPr txBox="1"/>
          <p:nvPr/>
        </p:nvSpPr>
        <p:spPr>
          <a:xfrm>
            <a:off x="8229600" y="4709160"/>
            <a:ext cx="3291840" cy="320040"/>
          </a:xfrm>
          <a:prstGeom prst="rect">
            <a:avLst/>
          </a:prstGeom>
          <a:noFill/>
          <a:ln/>
        </p:spPr>
        <p:txBody>
          <a:bodyPr wrap="square" lIns="0" tIns="0" rIns="0" bIns="0" rtlCol="0" anchor="ctr"/>
          <a:lstStyle/>
          <a:p>
            <a:pPr algn="ctr" indent="0" marL="0">
              <a:buNone/>
            </a:pPr>
            <a:r>
              <a:rPr lang="en-US" sz="1400" dirty="0">
                <a:solidFill>
                  <a:srgbClr val="EBB64E"/>
                </a:solidFill>
                <a:latin typeface="Calibri" pitchFamily="34" charset="0"/>
                <a:ea typeface="Calibri" pitchFamily="34" charset="-122"/>
                <a:cs typeface="Calibri" pitchFamily="34" charset="-120"/>
              </a:rPr>
              <a:t>thepastor.github.io</a:t>
            </a:r>
            <a:endParaRPr lang="en-US" sz="1400" dirty="0"/>
          </a:p>
        </p:txBody>
      </p:sp>
      <p:sp>
        <p:nvSpPr>
          <p:cNvPr id="10" name="Text 7"/>
          <p:cNvSpPr txBox="1"/>
          <p:nvPr/>
        </p:nvSpPr>
        <p:spPr>
          <a:xfrm>
            <a:off x="640080" y="6172200"/>
            <a:ext cx="5486400" cy="320040"/>
          </a:xfrm>
          <a:prstGeom prst="rect">
            <a:avLst/>
          </a:prstGeom>
          <a:noFill/>
          <a:ln/>
        </p:spPr>
        <p:txBody>
          <a:bodyPr wrap="square" lIns="0" tIns="0" rIns="0" bIns="0" rtlCol="0" anchor="ctr"/>
          <a:lstStyle/>
          <a:p>
            <a:pPr indent="0" marL="0">
              <a:buNone/>
            </a:pPr>
            <a:r>
              <a:rPr lang="en-US" sz="1300" dirty="0">
                <a:solidFill>
                  <a:srgbClr val="8A919C"/>
                </a:solidFill>
                <a:latin typeface="Calibri" pitchFamily="34" charset="0"/>
                <a:ea typeface="Calibri" pitchFamily="34" charset="-122"/>
                <a:cs typeface="Calibri" pitchFamily="34" charset="-120"/>
              </a:rPr>
              <a:t>Presented by Anndy · JohnsonXCorp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9A6B08"/>
                </a:solidFill>
                <a:latin typeface="Courier New" pitchFamily="34" charset="0"/>
                <a:ea typeface="Courier New" pitchFamily="34" charset="-122"/>
                <a:cs typeface="Courier New" pitchFamily="34" charset="-120"/>
              </a:rPr>
              <a:t>[ SOUND FAMILIAR? ]</a:t>
            </a:r>
            <a:endParaRPr lang="en-US" sz="1300" dirty="0"/>
          </a:p>
        </p:txBody>
      </p:sp>
      <p:sp>
        <p:nvSpPr>
          <p:cNvPr id="3" name="Text 1"/>
          <p:cNvSpPr txBox="1"/>
          <p:nvPr/>
        </p:nvSpPr>
        <p:spPr>
          <a:xfrm>
            <a:off x="548640" y="822960"/>
            <a:ext cx="10972800" cy="1188720"/>
          </a:xfrm>
          <a:prstGeom prst="rect">
            <a:avLst/>
          </a:prstGeom>
          <a:noFill/>
          <a:ln/>
        </p:spPr>
        <p:txBody>
          <a:bodyPr wrap="square" lIns="0" tIns="0" rIns="0" bIns="0" rtlCol="0" anchor="t"/>
          <a:lstStyle/>
          <a:p>
            <a:pPr indent="0" marL="0">
              <a:buNone/>
            </a:pPr>
            <a:r>
              <a:rPr lang="en-US" sz="4000" b="1" dirty="0">
                <a:solidFill>
                  <a:srgbClr val="14161B"/>
                </a:solidFill>
                <a:latin typeface="Calibri" pitchFamily="34" charset="0"/>
                <a:ea typeface="Calibri" pitchFamily="34" charset="-122"/>
                <a:cs typeface="Calibri" pitchFamily="34" charset="-120"/>
              </a:rPr>
              <a:t>Uni has a lot of moving parts.</a:t>
            </a:r>
            <a:endParaRPr lang="en-US" sz="4000" dirty="0"/>
          </a:p>
        </p:txBody>
      </p:sp>
      <p:sp>
        <p:nvSpPr>
          <p:cNvPr id="4" name="Shape 2"/>
          <p:cNvSpPr/>
          <p:nvPr/>
        </p:nvSpPr>
        <p:spPr>
          <a:xfrm>
            <a:off x="548640" y="2148840"/>
            <a:ext cx="2587752" cy="3200400"/>
          </a:xfrm>
          <a:prstGeom prst="roundRect">
            <a:avLst>
              <a:gd name="adj" fmla="val 5300"/>
            </a:avLst>
          </a:prstGeom>
          <a:solidFill>
            <a:srgbClr val="F3F4F6"/>
          </a:solidFill>
          <a:ln w="12700">
            <a:solidFill>
              <a:srgbClr val="E3E5E8"/>
            </a:solidFill>
            <a:prstDash val="solid"/>
          </a:ln>
        </p:spPr>
      </p:sp>
      <p:sp>
        <p:nvSpPr>
          <p:cNvPr id="5" name="Text 3"/>
          <p:cNvSpPr txBox="1"/>
          <p:nvPr/>
        </p:nvSpPr>
        <p:spPr>
          <a:xfrm>
            <a:off x="822960" y="2468880"/>
            <a:ext cx="2103120" cy="1005840"/>
          </a:xfrm>
          <a:prstGeom prst="rect">
            <a:avLst/>
          </a:prstGeom>
          <a:noFill/>
          <a:ln/>
        </p:spPr>
        <p:txBody>
          <a:bodyPr wrap="square" lIns="0" tIns="0" rIns="0" bIns="0" rtlCol="0" anchor="ctr"/>
          <a:lstStyle/>
          <a:p>
            <a:pPr indent="0" marL="0">
              <a:buNone/>
            </a:pPr>
            <a:r>
              <a:rPr lang="en-US" sz="5000" b="1" dirty="0">
                <a:solidFill>
                  <a:srgbClr val="1B7F86"/>
                </a:solidFill>
                <a:latin typeface="Calibri" pitchFamily="34" charset="0"/>
                <a:ea typeface="Calibri" pitchFamily="34" charset="-122"/>
                <a:cs typeface="Calibri" pitchFamily="34" charset="-120"/>
              </a:rPr>
              <a:t>5</a:t>
            </a:r>
            <a:endParaRPr lang="en-US" sz="5000" dirty="0"/>
          </a:p>
        </p:txBody>
      </p:sp>
      <p:sp>
        <p:nvSpPr>
          <p:cNvPr id="6" name="Text 4"/>
          <p:cNvSpPr txBox="1"/>
          <p:nvPr/>
        </p:nvSpPr>
        <p:spPr>
          <a:xfrm>
            <a:off x="822960" y="3611880"/>
            <a:ext cx="2103120" cy="1463040"/>
          </a:xfrm>
          <a:prstGeom prst="rect">
            <a:avLst/>
          </a:prstGeom>
          <a:noFill/>
          <a:ln/>
        </p:spPr>
        <p:txBody>
          <a:bodyPr wrap="square" lIns="0" tIns="0" rIns="0" bIns="0" rtlCol="0" anchor="t"/>
          <a:lstStyle/>
          <a:p>
            <a:pPr indent="0" marL="0">
              <a:buNone/>
            </a:pPr>
            <a:r>
              <a:rPr lang="en-US" sz="1600" dirty="0">
                <a:solidFill>
                  <a:srgbClr val="14161B"/>
                </a:solidFill>
                <a:latin typeface="Calibri" pitchFamily="34" charset="0"/>
                <a:ea typeface="Calibri" pitchFamily="34" charset="-122"/>
                <a:cs typeface="Calibri" pitchFamily="34" charset="-120"/>
              </a:rPr>
              <a:t>course outlines, each with its own dates buried in a PDF</a:t>
            </a:r>
            <a:endParaRPr lang="en-US" sz="1600" dirty="0"/>
          </a:p>
        </p:txBody>
      </p:sp>
      <p:sp>
        <p:nvSpPr>
          <p:cNvPr id="7" name="Shape 5"/>
          <p:cNvSpPr/>
          <p:nvPr/>
        </p:nvSpPr>
        <p:spPr>
          <a:xfrm>
            <a:off x="3364992" y="2148840"/>
            <a:ext cx="2587752" cy="3200400"/>
          </a:xfrm>
          <a:prstGeom prst="roundRect">
            <a:avLst>
              <a:gd name="adj" fmla="val 5300"/>
            </a:avLst>
          </a:prstGeom>
          <a:solidFill>
            <a:srgbClr val="F3F4F6"/>
          </a:solidFill>
          <a:ln w="12700">
            <a:solidFill>
              <a:srgbClr val="E3E5E8"/>
            </a:solidFill>
            <a:prstDash val="solid"/>
          </a:ln>
        </p:spPr>
      </p:sp>
      <p:sp>
        <p:nvSpPr>
          <p:cNvPr id="8" name="Text 6"/>
          <p:cNvSpPr txBox="1"/>
          <p:nvPr/>
        </p:nvSpPr>
        <p:spPr>
          <a:xfrm>
            <a:off x="3639312" y="2468880"/>
            <a:ext cx="2103120" cy="1005840"/>
          </a:xfrm>
          <a:prstGeom prst="rect">
            <a:avLst/>
          </a:prstGeom>
          <a:noFill/>
          <a:ln/>
        </p:spPr>
        <p:txBody>
          <a:bodyPr wrap="square" lIns="0" tIns="0" rIns="0" bIns="0" rtlCol="0" anchor="ctr"/>
          <a:lstStyle/>
          <a:p>
            <a:pPr indent="0" marL="0">
              <a:buNone/>
            </a:pPr>
            <a:r>
              <a:rPr lang="en-US" sz="5000" b="1" dirty="0">
                <a:solidFill>
                  <a:srgbClr val="14161B"/>
                </a:solidFill>
                <a:latin typeface="Calibri" pitchFamily="34" charset="0"/>
                <a:ea typeface="Calibri" pitchFamily="34" charset="-122"/>
                <a:cs typeface="Calibri" pitchFamily="34" charset="-120"/>
              </a:rPr>
              <a:t>40+</a:t>
            </a:r>
            <a:endParaRPr lang="en-US" sz="5000" dirty="0"/>
          </a:p>
        </p:txBody>
      </p:sp>
      <p:sp>
        <p:nvSpPr>
          <p:cNvPr id="9" name="Text 7"/>
          <p:cNvSpPr txBox="1"/>
          <p:nvPr/>
        </p:nvSpPr>
        <p:spPr>
          <a:xfrm>
            <a:off x="3639312" y="3611880"/>
            <a:ext cx="2103120" cy="1463040"/>
          </a:xfrm>
          <a:prstGeom prst="rect">
            <a:avLst/>
          </a:prstGeom>
          <a:noFill/>
          <a:ln/>
        </p:spPr>
        <p:txBody>
          <a:bodyPr wrap="square" lIns="0" tIns="0" rIns="0" bIns="0" rtlCol="0" anchor="t"/>
          <a:lstStyle/>
          <a:p>
            <a:pPr indent="0" marL="0">
              <a:buNone/>
            </a:pPr>
            <a:r>
              <a:rPr lang="en-US" sz="1600" dirty="0">
                <a:solidFill>
                  <a:srgbClr val="14161B"/>
                </a:solidFill>
                <a:latin typeface="Calibri" pitchFamily="34" charset="0"/>
                <a:ea typeface="Calibri" pitchFamily="34" charset="-122"/>
                <a:cs typeface="Calibri" pitchFamily="34" charset="-120"/>
              </a:rPr>
              <a:t>deadlines a term, spread across five different course sites</a:t>
            </a:r>
            <a:endParaRPr lang="en-US" sz="1600" dirty="0"/>
          </a:p>
        </p:txBody>
      </p:sp>
      <p:sp>
        <p:nvSpPr>
          <p:cNvPr id="10" name="Shape 8"/>
          <p:cNvSpPr/>
          <p:nvPr/>
        </p:nvSpPr>
        <p:spPr>
          <a:xfrm>
            <a:off x="6181344" y="2148840"/>
            <a:ext cx="2587752" cy="3200400"/>
          </a:xfrm>
          <a:prstGeom prst="roundRect">
            <a:avLst>
              <a:gd name="adj" fmla="val 5300"/>
            </a:avLst>
          </a:prstGeom>
          <a:solidFill>
            <a:srgbClr val="F3F4F6"/>
          </a:solidFill>
          <a:ln w="12700">
            <a:solidFill>
              <a:srgbClr val="E3E5E8"/>
            </a:solidFill>
            <a:prstDash val="solid"/>
          </a:ln>
        </p:spPr>
      </p:sp>
      <p:sp>
        <p:nvSpPr>
          <p:cNvPr id="11" name="Text 9"/>
          <p:cNvSpPr txBox="1"/>
          <p:nvPr/>
        </p:nvSpPr>
        <p:spPr>
          <a:xfrm>
            <a:off x="6455664" y="2468880"/>
            <a:ext cx="2103120" cy="1005840"/>
          </a:xfrm>
          <a:prstGeom prst="rect">
            <a:avLst/>
          </a:prstGeom>
          <a:noFill/>
          <a:ln/>
        </p:spPr>
        <p:txBody>
          <a:bodyPr wrap="square" lIns="0" tIns="0" rIns="0" bIns="0" rtlCol="0" anchor="ctr"/>
          <a:lstStyle/>
          <a:p>
            <a:pPr indent="0" marL="0">
              <a:buNone/>
            </a:pPr>
            <a:r>
              <a:rPr lang="en-US" sz="5000" b="1" dirty="0">
                <a:solidFill>
                  <a:srgbClr val="F5A524"/>
                </a:solidFill>
                <a:latin typeface="Calibri" pitchFamily="34" charset="0"/>
                <a:ea typeface="Calibri" pitchFamily="34" charset="-122"/>
                <a:cs typeface="Calibri" pitchFamily="34" charset="-120"/>
              </a:rPr>
              <a:t>300</a:t>
            </a:r>
            <a:endParaRPr lang="en-US" sz="5000" dirty="0"/>
          </a:p>
        </p:txBody>
      </p:sp>
      <p:sp>
        <p:nvSpPr>
          <p:cNvPr id="12" name="Text 10"/>
          <p:cNvSpPr txBox="1"/>
          <p:nvPr/>
        </p:nvSpPr>
        <p:spPr>
          <a:xfrm>
            <a:off x="6455664" y="3611880"/>
            <a:ext cx="2103120" cy="1463040"/>
          </a:xfrm>
          <a:prstGeom prst="rect">
            <a:avLst/>
          </a:prstGeom>
          <a:noFill/>
          <a:ln/>
        </p:spPr>
        <p:txBody>
          <a:bodyPr wrap="square" lIns="0" tIns="0" rIns="0" bIns="0" rtlCol="0" anchor="t"/>
          <a:lstStyle/>
          <a:p>
            <a:pPr indent="0" marL="0">
              <a:buNone/>
            </a:pPr>
            <a:r>
              <a:rPr lang="en-US" sz="1600" dirty="0">
                <a:solidFill>
                  <a:srgbClr val="14161B"/>
                </a:solidFill>
                <a:latin typeface="Calibri" pitchFamily="34" charset="0"/>
                <a:ea typeface="Calibri" pitchFamily="34" charset="-122"/>
                <a:cs typeface="Calibri" pitchFamily="34" charset="-120"/>
              </a:rPr>
              <a:t>pages of reading before the midterm, and a week to do it</a:t>
            </a:r>
            <a:endParaRPr lang="en-US" sz="1600" dirty="0"/>
          </a:p>
        </p:txBody>
      </p:sp>
      <p:sp>
        <p:nvSpPr>
          <p:cNvPr id="13" name="Shape 11"/>
          <p:cNvSpPr/>
          <p:nvPr/>
        </p:nvSpPr>
        <p:spPr>
          <a:xfrm>
            <a:off x="8997696" y="2148840"/>
            <a:ext cx="2587752" cy="3200400"/>
          </a:xfrm>
          <a:prstGeom prst="roundRect">
            <a:avLst>
              <a:gd name="adj" fmla="val 5300"/>
            </a:avLst>
          </a:prstGeom>
          <a:solidFill>
            <a:srgbClr val="F3F4F6"/>
          </a:solidFill>
          <a:ln w="12700">
            <a:solidFill>
              <a:srgbClr val="E3E5E8"/>
            </a:solidFill>
            <a:prstDash val="solid"/>
          </a:ln>
        </p:spPr>
      </p:sp>
      <p:sp>
        <p:nvSpPr>
          <p:cNvPr id="14" name="Text 12"/>
          <p:cNvSpPr txBox="1"/>
          <p:nvPr/>
        </p:nvSpPr>
        <p:spPr>
          <a:xfrm>
            <a:off x="9272016" y="2468880"/>
            <a:ext cx="2103120" cy="1005840"/>
          </a:xfrm>
          <a:prstGeom prst="rect">
            <a:avLst/>
          </a:prstGeom>
          <a:noFill/>
          <a:ln/>
        </p:spPr>
        <p:txBody>
          <a:bodyPr wrap="square" lIns="0" tIns="0" rIns="0" bIns="0" rtlCol="0" anchor="ctr"/>
          <a:lstStyle/>
          <a:p>
            <a:pPr indent="0" marL="0">
              <a:buNone/>
            </a:pPr>
            <a:r>
              <a:rPr lang="en-US" sz="5000" b="1" dirty="0">
                <a:solidFill>
                  <a:srgbClr val="4F8FE6"/>
                </a:solidFill>
                <a:latin typeface="Calibri" pitchFamily="34" charset="0"/>
                <a:ea typeface="Calibri" pitchFamily="34" charset="-122"/>
                <a:cs typeface="Calibri" pitchFamily="34" charset="-120"/>
              </a:rPr>
              <a:t>1 night</a:t>
            </a:r>
            <a:endParaRPr lang="en-US" sz="5000" dirty="0"/>
          </a:p>
        </p:txBody>
      </p:sp>
      <p:sp>
        <p:nvSpPr>
          <p:cNvPr id="15" name="Text 13"/>
          <p:cNvSpPr txBox="1"/>
          <p:nvPr/>
        </p:nvSpPr>
        <p:spPr>
          <a:xfrm>
            <a:off x="9272016" y="3611880"/>
            <a:ext cx="2103120" cy="1463040"/>
          </a:xfrm>
          <a:prstGeom prst="rect">
            <a:avLst/>
          </a:prstGeom>
          <a:noFill/>
          <a:ln/>
        </p:spPr>
        <p:txBody>
          <a:bodyPr wrap="square" lIns="0" tIns="0" rIns="0" bIns="0" rtlCol="0" anchor="t"/>
          <a:lstStyle/>
          <a:p>
            <a:pPr indent="0" marL="0">
              <a:buNone/>
            </a:pPr>
            <a:r>
              <a:rPr lang="en-US" sz="1600" dirty="0">
                <a:solidFill>
                  <a:srgbClr val="14161B"/>
                </a:solidFill>
                <a:latin typeface="Calibri" pitchFamily="34" charset="0"/>
                <a:ea typeface="Calibri" pitchFamily="34" charset="-122"/>
                <a:cs typeface="Calibri" pitchFamily="34" charset="-120"/>
              </a:rPr>
              <a:t>the usual amount of studying before the exam</a:t>
            </a:r>
            <a:endParaRPr lang="en-US" sz="1600" dirty="0"/>
          </a:p>
        </p:txBody>
      </p:sp>
      <p:sp>
        <p:nvSpPr>
          <p:cNvPr id="16" name="Text 14"/>
          <p:cNvSpPr txBox="1"/>
          <p:nvPr/>
        </p:nvSpPr>
        <p:spPr>
          <a:xfrm>
            <a:off x="548640" y="5623560"/>
            <a:ext cx="10972800" cy="365760"/>
          </a:xfrm>
          <a:prstGeom prst="rect">
            <a:avLst/>
          </a:prstGeom>
          <a:noFill/>
          <a:ln/>
        </p:spPr>
        <p:txBody>
          <a:bodyPr wrap="square" lIns="0" tIns="0" rIns="0" bIns="0" rtlCol="0" anchor="ctr"/>
          <a:lstStyle/>
          <a:p>
            <a:pPr indent="0" marL="0">
              <a:buNone/>
            </a:pPr>
            <a:r>
              <a:rPr lang="en-US" sz="1400" i="1" dirty="0">
                <a:solidFill>
                  <a:srgbClr val="5A606B"/>
                </a:solidFill>
                <a:latin typeface="Calibri" pitchFamily="34" charset="0"/>
                <a:ea typeface="Calibri" pitchFamily="34" charset="-122"/>
                <a:cs typeface="Calibri" pitchFamily="34" charset="-120"/>
              </a:rPr>
              <a:t>Rough numbers for a typical full course load. Hands up if any of these is you.</a:t>
            </a:r>
            <a:endParaRPr lang="en-US" sz="1400" dirty="0"/>
          </a:p>
        </p:txBody>
      </p:sp>
      <p:sp>
        <p:nvSpPr>
          <p:cNvPr id="17" name="Text 15"/>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rgbClr val="5A606B"/>
                </a:solidFill>
                <a:latin typeface="Calibri" pitchFamily="34" charset="0"/>
                <a:ea typeface="Calibri" pitchFamily="34" charset="-122"/>
                <a:cs typeface="Calibri" pitchFamily="34" charset="-120"/>
              </a:rPr>
              <a:t>thepastor.github.io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F13"/>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EBB64E"/>
                </a:solidFill>
                <a:latin typeface="Courier New" pitchFamily="34" charset="0"/>
                <a:ea typeface="Courier New" pitchFamily="34" charset="-122"/>
                <a:cs typeface="Courier New" pitchFamily="34" charset="-120"/>
              </a:rPr>
              <a:t>[ THE TOOLKIT ]</a:t>
            </a:r>
            <a:endParaRPr lang="en-US" sz="1300" dirty="0"/>
          </a:p>
        </p:txBody>
      </p:sp>
      <p:sp>
        <p:nvSpPr>
          <p:cNvPr id="3" name="Text 1"/>
          <p:cNvSpPr txBox="1"/>
          <p:nvPr/>
        </p:nvSpPr>
        <p:spPr>
          <a:xfrm>
            <a:off x="548640" y="822960"/>
            <a:ext cx="10972800" cy="11887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One link. Four apps.</a:t>
            </a:r>
            <a:endParaRPr lang="en-US" sz="4000" dirty="0"/>
          </a:p>
        </p:txBody>
      </p:sp>
      <p:sp>
        <p:nvSpPr>
          <p:cNvPr id="4" name="Shape 2"/>
          <p:cNvSpPr/>
          <p:nvPr/>
        </p:nvSpPr>
        <p:spPr>
          <a:xfrm>
            <a:off x="548640" y="2103120"/>
            <a:ext cx="2587752" cy="3383280"/>
          </a:xfrm>
          <a:prstGeom prst="roundRect">
            <a:avLst>
              <a:gd name="adj" fmla="val 5300"/>
            </a:avLst>
          </a:prstGeom>
          <a:solidFill>
            <a:srgbClr val="171B22"/>
          </a:solidFill>
          <a:ln w="12700">
            <a:solidFill>
              <a:srgbClr val="2C323C"/>
            </a:solidFill>
            <a:prstDash val="solid"/>
          </a:ln>
        </p:spPr>
      </p:sp>
      <p:sp>
        <p:nvSpPr>
          <p:cNvPr id="5" name="Shape 3"/>
          <p:cNvSpPr/>
          <p:nvPr/>
        </p:nvSpPr>
        <p:spPr>
          <a:xfrm>
            <a:off x="822960" y="2377440"/>
            <a:ext cx="1097280" cy="365760"/>
          </a:xfrm>
          <a:prstGeom prst="roundRect">
            <a:avLst>
              <a:gd name="adj" fmla="val 50000"/>
            </a:avLst>
          </a:prstGeom>
          <a:solidFill>
            <a:srgbClr val="1B7F86"/>
          </a:solidFill>
          <a:ln/>
        </p:spPr>
      </p:sp>
      <p:sp>
        <p:nvSpPr>
          <p:cNvPr id="6" name="Text 4"/>
          <p:cNvSpPr txBox="1"/>
          <p:nvPr/>
        </p:nvSpPr>
        <p:spPr>
          <a:xfrm>
            <a:off x="822960" y="237744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PLAN</a:t>
            </a:r>
            <a:endParaRPr lang="en-US" sz="1200" dirty="0"/>
          </a:p>
        </p:txBody>
      </p:sp>
      <p:sp>
        <p:nvSpPr>
          <p:cNvPr id="7" name="Text 5"/>
          <p:cNvSpPr txBox="1"/>
          <p:nvPr/>
        </p:nvSpPr>
        <p:spPr>
          <a:xfrm>
            <a:off x="822960" y="3017520"/>
            <a:ext cx="2103120" cy="502920"/>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Syllabus Desk</a:t>
            </a:r>
            <a:endParaRPr lang="en-US" sz="2500" dirty="0"/>
          </a:p>
        </p:txBody>
      </p:sp>
      <p:sp>
        <p:nvSpPr>
          <p:cNvPr id="8" name="Text 6"/>
          <p:cNvSpPr txBox="1"/>
          <p:nvPr/>
        </p:nvSpPr>
        <p:spPr>
          <a:xfrm>
            <a:off x="822960" y="3611880"/>
            <a:ext cx="2103120" cy="1463040"/>
          </a:xfrm>
          <a:prstGeom prst="rect">
            <a:avLst/>
          </a:prstGeom>
          <a:noFill/>
          <a:ln/>
        </p:spPr>
        <p:txBody>
          <a:bodyPr wrap="square" lIns="0" tIns="0" rIns="0" bIns="0" rtlCol="0" anchor="t"/>
          <a:lstStyle/>
          <a:p>
            <a:pPr indent="0" marL="0">
              <a:buNone/>
            </a:pPr>
            <a:r>
              <a:rPr lang="en-US" sz="1600" dirty="0">
                <a:solidFill>
                  <a:srgbClr val="B4BAC4"/>
                </a:solidFill>
                <a:latin typeface="Calibri" pitchFamily="34" charset="0"/>
                <a:ea typeface="Calibri" pitchFamily="34" charset="-122"/>
                <a:cs typeface="Calibri" pitchFamily="34" charset="-120"/>
              </a:rPr>
              <a:t>Every deadline from your course outlines, on one calendar.</a:t>
            </a:r>
            <a:endParaRPr lang="en-US" sz="1600" dirty="0"/>
          </a:p>
        </p:txBody>
      </p:sp>
      <p:sp>
        <p:nvSpPr>
          <p:cNvPr id="9" name="Shape 7"/>
          <p:cNvSpPr/>
          <p:nvPr/>
        </p:nvSpPr>
        <p:spPr>
          <a:xfrm>
            <a:off x="3364992" y="2103120"/>
            <a:ext cx="2587752" cy="3383280"/>
          </a:xfrm>
          <a:prstGeom prst="roundRect">
            <a:avLst>
              <a:gd name="adj" fmla="val 5300"/>
            </a:avLst>
          </a:prstGeom>
          <a:solidFill>
            <a:srgbClr val="171B22"/>
          </a:solidFill>
          <a:ln w="12700">
            <a:solidFill>
              <a:srgbClr val="2C323C"/>
            </a:solidFill>
            <a:prstDash val="solid"/>
          </a:ln>
        </p:spPr>
      </p:sp>
      <p:sp>
        <p:nvSpPr>
          <p:cNvPr id="10" name="Shape 8"/>
          <p:cNvSpPr/>
          <p:nvPr/>
        </p:nvSpPr>
        <p:spPr>
          <a:xfrm>
            <a:off x="3639312" y="2377440"/>
            <a:ext cx="1097280" cy="365760"/>
          </a:xfrm>
          <a:prstGeom prst="roundRect">
            <a:avLst>
              <a:gd name="adj" fmla="val 50000"/>
            </a:avLst>
          </a:prstGeom>
          <a:solidFill>
            <a:srgbClr val="D4F05A"/>
          </a:solidFill>
          <a:ln/>
        </p:spPr>
      </p:sp>
      <p:sp>
        <p:nvSpPr>
          <p:cNvPr id="11" name="Text 9"/>
          <p:cNvSpPr txBox="1"/>
          <p:nvPr/>
        </p:nvSpPr>
        <p:spPr>
          <a:xfrm>
            <a:off x="3639312" y="2377440"/>
            <a:ext cx="1097280" cy="365760"/>
          </a:xfrm>
          <a:prstGeom prst="rect">
            <a:avLst/>
          </a:prstGeom>
          <a:noFill/>
          <a:ln/>
        </p:spPr>
        <p:txBody>
          <a:bodyPr wrap="square" lIns="0" tIns="0" rIns="0" bIns="0" rtlCol="0" anchor="ctr"/>
          <a:lstStyle/>
          <a:p>
            <a:pPr algn="ctr" indent="0" marL="0">
              <a:buNone/>
            </a:pPr>
            <a:r>
              <a:rPr lang="en-US" sz="1200" b="1" dirty="0">
                <a:solidFill>
                  <a:srgbClr val="14161B"/>
                </a:solidFill>
                <a:latin typeface="Courier New" pitchFamily="34" charset="0"/>
                <a:ea typeface="Courier New" pitchFamily="34" charset="-122"/>
                <a:cs typeface="Courier New" pitchFamily="34" charset="-120"/>
              </a:rPr>
              <a:t>STUDY</a:t>
            </a:r>
            <a:endParaRPr lang="en-US" sz="1200" dirty="0"/>
          </a:p>
        </p:txBody>
      </p:sp>
      <p:sp>
        <p:nvSpPr>
          <p:cNvPr id="12" name="Text 10"/>
          <p:cNvSpPr txBox="1"/>
          <p:nvPr/>
        </p:nvSpPr>
        <p:spPr>
          <a:xfrm>
            <a:off x="3639312" y="3017520"/>
            <a:ext cx="2103120" cy="502920"/>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UNI Made EZ</a:t>
            </a:r>
            <a:endParaRPr lang="en-US" sz="2500" dirty="0"/>
          </a:p>
        </p:txBody>
      </p:sp>
      <p:sp>
        <p:nvSpPr>
          <p:cNvPr id="13" name="Text 11"/>
          <p:cNvSpPr txBox="1"/>
          <p:nvPr/>
        </p:nvSpPr>
        <p:spPr>
          <a:xfrm>
            <a:off x="3639312" y="3611880"/>
            <a:ext cx="2103120" cy="1463040"/>
          </a:xfrm>
          <a:prstGeom prst="rect">
            <a:avLst/>
          </a:prstGeom>
          <a:noFill/>
          <a:ln/>
        </p:spPr>
        <p:txBody>
          <a:bodyPr wrap="square" lIns="0" tIns="0" rIns="0" bIns="0" rtlCol="0" anchor="t"/>
          <a:lstStyle/>
          <a:p>
            <a:pPr indent="0" marL="0">
              <a:buNone/>
            </a:pPr>
            <a:r>
              <a:rPr lang="en-US" sz="1600" dirty="0">
                <a:solidFill>
                  <a:srgbClr val="B4BAC4"/>
                </a:solidFill>
                <a:latin typeface="Calibri" pitchFamily="34" charset="0"/>
                <a:ea typeface="Calibri" pitchFamily="34" charset="-122"/>
                <a:cs typeface="Calibri" pitchFamily="34" charset="-120"/>
              </a:rPr>
              <a:t>Your lecture files, turned into flashcards and quizzes.</a:t>
            </a:r>
            <a:endParaRPr lang="en-US" sz="1600" dirty="0"/>
          </a:p>
        </p:txBody>
      </p:sp>
      <p:sp>
        <p:nvSpPr>
          <p:cNvPr id="14" name="Shape 12"/>
          <p:cNvSpPr/>
          <p:nvPr/>
        </p:nvSpPr>
        <p:spPr>
          <a:xfrm>
            <a:off x="6181344" y="2103120"/>
            <a:ext cx="2587752" cy="3383280"/>
          </a:xfrm>
          <a:prstGeom prst="roundRect">
            <a:avLst>
              <a:gd name="adj" fmla="val 5300"/>
            </a:avLst>
          </a:prstGeom>
          <a:solidFill>
            <a:srgbClr val="171B22"/>
          </a:solidFill>
          <a:ln w="12700">
            <a:solidFill>
              <a:srgbClr val="2C323C"/>
            </a:solidFill>
            <a:prstDash val="solid"/>
          </a:ln>
        </p:spPr>
      </p:sp>
      <p:sp>
        <p:nvSpPr>
          <p:cNvPr id="15" name="Shape 13"/>
          <p:cNvSpPr/>
          <p:nvPr/>
        </p:nvSpPr>
        <p:spPr>
          <a:xfrm>
            <a:off x="6455664" y="2377440"/>
            <a:ext cx="1097280" cy="365760"/>
          </a:xfrm>
          <a:prstGeom prst="roundRect">
            <a:avLst>
              <a:gd name="adj" fmla="val 50000"/>
            </a:avLst>
          </a:prstGeom>
          <a:solidFill>
            <a:srgbClr val="F5A524"/>
          </a:solidFill>
          <a:ln/>
        </p:spPr>
      </p:sp>
      <p:sp>
        <p:nvSpPr>
          <p:cNvPr id="16" name="Text 14"/>
          <p:cNvSpPr txBox="1"/>
          <p:nvPr/>
        </p:nvSpPr>
        <p:spPr>
          <a:xfrm>
            <a:off x="6455664" y="2377440"/>
            <a:ext cx="1097280" cy="365760"/>
          </a:xfrm>
          <a:prstGeom prst="rect">
            <a:avLst/>
          </a:prstGeom>
          <a:noFill/>
          <a:ln/>
        </p:spPr>
        <p:txBody>
          <a:bodyPr wrap="square" lIns="0" tIns="0" rIns="0" bIns="0" rtlCol="0" anchor="ctr"/>
          <a:lstStyle/>
          <a:p>
            <a:pPr algn="ctr" indent="0" marL="0">
              <a:buNone/>
            </a:pPr>
            <a:r>
              <a:rPr lang="en-US" sz="1200" b="1" dirty="0">
                <a:solidFill>
                  <a:srgbClr val="14161B"/>
                </a:solidFill>
                <a:latin typeface="Courier New" pitchFamily="34" charset="0"/>
                <a:ea typeface="Courier New" pitchFamily="34" charset="-122"/>
                <a:cs typeface="Courier New" pitchFamily="34" charset="-120"/>
              </a:rPr>
              <a:t>READ</a:t>
            </a:r>
            <a:endParaRPr lang="en-US" sz="1200" dirty="0"/>
          </a:p>
        </p:txBody>
      </p:sp>
      <p:sp>
        <p:nvSpPr>
          <p:cNvPr id="17" name="Text 15"/>
          <p:cNvSpPr txBox="1"/>
          <p:nvPr/>
        </p:nvSpPr>
        <p:spPr>
          <a:xfrm>
            <a:off x="6455664" y="3017520"/>
            <a:ext cx="2103120" cy="502920"/>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Read Fast</a:t>
            </a:r>
            <a:endParaRPr lang="en-US" sz="2500" dirty="0"/>
          </a:p>
        </p:txBody>
      </p:sp>
      <p:sp>
        <p:nvSpPr>
          <p:cNvPr id="18" name="Text 16"/>
          <p:cNvSpPr txBox="1"/>
          <p:nvPr/>
        </p:nvSpPr>
        <p:spPr>
          <a:xfrm>
            <a:off x="6455664" y="3611880"/>
            <a:ext cx="2103120" cy="1463040"/>
          </a:xfrm>
          <a:prstGeom prst="rect">
            <a:avLst/>
          </a:prstGeom>
          <a:noFill/>
          <a:ln/>
        </p:spPr>
        <p:txBody>
          <a:bodyPr wrap="square" lIns="0" tIns="0" rIns="0" bIns="0" rtlCol="0" anchor="t"/>
          <a:lstStyle/>
          <a:p>
            <a:pPr indent="0" marL="0">
              <a:buNone/>
            </a:pPr>
            <a:r>
              <a:rPr lang="en-US" sz="1600" dirty="0">
                <a:solidFill>
                  <a:srgbClr val="B4BAC4"/>
                </a:solidFill>
                <a:latin typeface="Calibri" pitchFamily="34" charset="0"/>
                <a:ea typeface="Calibri" pitchFamily="34" charset="-122"/>
                <a:cs typeface="Calibri" pitchFamily="34" charset="-120"/>
              </a:rPr>
              <a:t>Read your textbooks one word at a time, at your speed.</a:t>
            </a:r>
            <a:endParaRPr lang="en-US" sz="1600" dirty="0"/>
          </a:p>
        </p:txBody>
      </p:sp>
      <p:sp>
        <p:nvSpPr>
          <p:cNvPr id="19" name="Shape 17"/>
          <p:cNvSpPr/>
          <p:nvPr/>
        </p:nvSpPr>
        <p:spPr>
          <a:xfrm>
            <a:off x="8997696" y="2103120"/>
            <a:ext cx="2587752" cy="3383280"/>
          </a:xfrm>
          <a:prstGeom prst="roundRect">
            <a:avLst>
              <a:gd name="adj" fmla="val 5300"/>
            </a:avLst>
          </a:prstGeom>
          <a:solidFill>
            <a:srgbClr val="171B22"/>
          </a:solidFill>
          <a:ln w="12700">
            <a:solidFill>
              <a:srgbClr val="2C323C"/>
            </a:solidFill>
            <a:prstDash val="solid"/>
          </a:ln>
        </p:spPr>
      </p:sp>
      <p:sp>
        <p:nvSpPr>
          <p:cNvPr id="20" name="Shape 18"/>
          <p:cNvSpPr/>
          <p:nvPr/>
        </p:nvSpPr>
        <p:spPr>
          <a:xfrm>
            <a:off x="9272016" y="2377440"/>
            <a:ext cx="1097280" cy="365760"/>
          </a:xfrm>
          <a:prstGeom prst="roundRect">
            <a:avLst>
              <a:gd name="adj" fmla="val 50000"/>
            </a:avLst>
          </a:prstGeom>
          <a:solidFill>
            <a:srgbClr val="4F8FE6"/>
          </a:solidFill>
          <a:ln/>
        </p:spPr>
      </p:sp>
      <p:sp>
        <p:nvSpPr>
          <p:cNvPr id="21" name="Text 19"/>
          <p:cNvSpPr txBox="1"/>
          <p:nvPr/>
        </p:nvSpPr>
        <p:spPr>
          <a:xfrm>
            <a:off x="9272016" y="2377440"/>
            <a:ext cx="1097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LEARN</a:t>
            </a:r>
            <a:endParaRPr lang="en-US" sz="1200" dirty="0"/>
          </a:p>
        </p:txBody>
      </p:sp>
      <p:sp>
        <p:nvSpPr>
          <p:cNvPr id="22" name="Text 20"/>
          <p:cNvSpPr txBox="1"/>
          <p:nvPr/>
        </p:nvSpPr>
        <p:spPr>
          <a:xfrm>
            <a:off x="9272016" y="3017520"/>
            <a:ext cx="2103120" cy="502920"/>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Vamos</a:t>
            </a:r>
            <a:endParaRPr lang="en-US" sz="2500" dirty="0"/>
          </a:p>
        </p:txBody>
      </p:sp>
      <p:sp>
        <p:nvSpPr>
          <p:cNvPr id="23" name="Text 21"/>
          <p:cNvSpPr txBox="1"/>
          <p:nvPr/>
        </p:nvSpPr>
        <p:spPr>
          <a:xfrm>
            <a:off x="9272016" y="3611880"/>
            <a:ext cx="2103120" cy="1463040"/>
          </a:xfrm>
          <a:prstGeom prst="rect">
            <a:avLst/>
          </a:prstGeom>
          <a:noFill/>
          <a:ln/>
        </p:spPr>
        <p:txBody>
          <a:bodyPr wrap="square" lIns="0" tIns="0" rIns="0" bIns="0" rtlCol="0" anchor="t"/>
          <a:lstStyle/>
          <a:p>
            <a:pPr indent="0" marL="0">
              <a:buNone/>
            </a:pPr>
            <a:r>
              <a:rPr lang="en-US" sz="1600" dirty="0">
                <a:solidFill>
                  <a:srgbClr val="B4BAC4"/>
                </a:solidFill>
                <a:latin typeface="Calibri" pitchFamily="34" charset="0"/>
                <a:ea typeface="Calibri" pitchFamily="34" charset="-122"/>
                <a:cs typeface="Calibri" pitchFamily="34" charset="-120"/>
              </a:rPr>
              <a:t>Learn Spanish, French or Japanese in small daily steps.</a:t>
            </a:r>
            <a:endParaRPr lang="en-US" sz="1600" dirty="0"/>
          </a:p>
        </p:txBody>
      </p:sp>
      <p:sp>
        <p:nvSpPr>
          <p:cNvPr id="24" name="Text 22"/>
          <p:cNvSpPr txBox="1"/>
          <p:nvPr/>
        </p:nvSpPr>
        <p:spPr>
          <a:xfrm>
            <a:off x="548640" y="5760720"/>
            <a:ext cx="10972800" cy="365760"/>
          </a:xfrm>
          <a:prstGeom prst="rect">
            <a:avLst/>
          </a:prstGeom>
          <a:noFill/>
          <a:ln/>
        </p:spPr>
        <p:txBody>
          <a:bodyPr wrap="square" lIns="0" tIns="0" rIns="0" bIns="0" rtlCol="0" anchor="ctr"/>
          <a:lstStyle/>
          <a:p>
            <a:pPr indent="0" marL="0">
              <a:buNone/>
            </a:pPr>
            <a:r>
              <a:rPr lang="en-US" sz="1600" b="1" dirty="0">
                <a:solidFill>
                  <a:srgbClr val="EBB64E"/>
                </a:solidFill>
                <a:latin typeface="Calibri" pitchFamily="34" charset="0"/>
                <a:ea typeface="Calibri" pitchFamily="34" charset="-122"/>
                <a:cs typeface="Calibri" pitchFamily="34" charset="-120"/>
              </a:rPr>
              <a:t>Free   ·   No download   ·   Works on your phone   ·   No account needed to start</a:t>
            </a:r>
            <a:endParaRPr lang="en-US" sz="1600" dirty="0"/>
          </a:p>
        </p:txBody>
      </p:sp>
      <p:sp>
        <p:nvSpPr>
          <p:cNvPr id="25" name="Text 23"/>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rgbClr val="8A919C"/>
                </a:solidFill>
                <a:latin typeface="Calibri" pitchFamily="34" charset="0"/>
                <a:ea typeface="Calibri" pitchFamily="34" charset="-122"/>
                <a:cs typeface="Calibri" pitchFamily="34" charset="-120"/>
              </a:rPr>
              <a:t>thepastor.github.io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1B7F86"/>
                </a:solidFill>
                <a:latin typeface="Courier New" pitchFamily="34" charset="0"/>
                <a:ea typeface="Courier New" pitchFamily="34" charset="-122"/>
                <a:cs typeface="Courier New" pitchFamily="34" charset="-120"/>
              </a:rPr>
              <a:t>[ 01 · PLAN ]</a:t>
            </a:r>
            <a:endParaRPr lang="en-US" sz="1300" dirty="0"/>
          </a:p>
        </p:txBody>
      </p:sp>
      <p:sp>
        <p:nvSpPr>
          <p:cNvPr id="3" name="Text 1"/>
          <p:cNvSpPr txBox="1"/>
          <p:nvPr/>
        </p:nvSpPr>
        <p:spPr>
          <a:xfrm>
            <a:off x="548640" y="822960"/>
            <a:ext cx="6858000" cy="1188720"/>
          </a:xfrm>
          <a:prstGeom prst="rect">
            <a:avLst/>
          </a:prstGeom>
          <a:noFill/>
          <a:ln/>
        </p:spPr>
        <p:txBody>
          <a:bodyPr wrap="square" lIns="0" tIns="0" rIns="0" bIns="0" rtlCol="0" anchor="t"/>
          <a:lstStyle/>
          <a:p>
            <a:pPr indent="0" marL="0">
              <a:buNone/>
            </a:pPr>
            <a:r>
              <a:rPr lang="en-US" sz="4400" b="1" dirty="0">
                <a:solidFill>
                  <a:srgbClr val="14161B"/>
                </a:solidFill>
                <a:latin typeface="Calibri" pitchFamily="34" charset="0"/>
                <a:ea typeface="Calibri" pitchFamily="34" charset="-122"/>
                <a:cs typeface="Calibri" pitchFamily="34" charset="-120"/>
              </a:rPr>
              <a:t>Syllabus Desk</a:t>
            </a:r>
            <a:endParaRPr lang="en-US" sz="4400" dirty="0"/>
          </a:p>
        </p:txBody>
      </p:sp>
      <p:sp>
        <p:nvSpPr>
          <p:cNvPr id="4" name="Text 2"/>
          <p:cNvSpPr txBox="1"/>
          <p:nvPr/>
        </p:nvSpPr>
        <p:spPr>
          <a:xfrm>
            <a:off x="548640" y="1600200"/>
            <a:ext cx="6583680" cy="822960"/>
          </a:xfrm>
          <a:prstGeom prst="rect">
            <a:avLst/>
          </a:prstGeom>
          <a:noFill/>
          <a:ln/>
        </p:spPr>
        <p:txBody>
          <a:bodyPr wrap="square" lIns="0" tIns="0" rIns="0" bIns="0" rtlCol="0" anchor="t"/>
          <a:lstStyle/>
          <a:p>
            <a:pPr indent="0" marL="0">
              <a:buNone/>
            </a:pPr>
            <a:r>
              <a:rPr lang="en-US" sz="2000" dirty="0">
                <a:solidFill>
                  <a:srgbClr val="5A606B"/>
                </a:solidFill>
                <a:latin typeface="Calibri" pitchFamily="34" charset="0"/>
                <a:ea typeface="Calibri" pitchFamily="34" charset="-122"/>
                <a:cs typeface="Calibri" pitchFamily="34" charset="-120"/>
              </a:rPr>
              <a:t>Turn your course outlines into one calendar with every deadline in the term.</a:t>
            </a:r>
            <a:endParaRPr lang="en-US" sz="2000" dirty="0"/>
          </a:p>
        </p:txBody>
      </p:sp>
      <p:sp>
        <p:nvSpPr>
          <p:cNvPr id="5" name="Text 3"/>
          <p:cNvSpPr txBox="1"/>
          <p:nvPr/>
        </p:nvSpPr>
        <p:spPr>
          <a:xfrm>
            <a:off x="548640" y="2606040"/>
            <a:ext cx="6492240" cy="26517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Paste an outline, or drop in the PDF or Word file</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It pulls out exams, quizzes, reports and due dates</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You check every date in a table before anything is saved</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Export to Google or Apple Calendar so reminders follow you</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Add work shifts and the gym so your week is real</a:t>
            </a:r>
            <a:endParaRPr lang="en-US" sz="1700" dirty="0"/>
          </a:p>
        </p:txBody>
      </p:sp>
      <p:sp>
        <p:nvSpPr>
          <p:cNvPr id="6" name="Shape 4"/>
          <p:cNvSpPr/>
          <p:nvPr/>
        </p:nvSpPr>
        <p:spPr>
          <a:xfrm>
            <a:off x="548640" y="5440680"/>
            <a:ext cx="6492240" cy="566928"/>
          </a:xfrm>
          <a:prstGeom prst="roundRect">
            <a:avLst>
              <a:gd name="adj" fmla="val 16129"/>
            </a:avLst>
          </a:prstGeom>
          <a:solidFill>
            <a:srgbClr val="F3F4F6"/>
          </a:solidFill>
          <a:ln w="12700">
            <a:solidFill>
              <a:srgbClr val="E3E5E8"/>
            </a:solidFill>
            <a:prstDash val="solid"/>
          </a:ln>
        </p:spPr>
      </p:sp>
      <p:sp>
        <p:nvSpPr>
          <p:cNvPr id="7" name="Text 5"/>
          <p:cNvSpPr txBox="1"/>
          <p:nvPr/>
        </p:nvSpPr>
        <p:spPr>
          <a:xfrm>
            <a:off x="777240" y="5440680"/>
            <a:ext cx="6217920" cy="566928"/>
          </a:xfrm>
          <a:prstGeom prst="rect">
            <a:avLst/>
          </a:prstGeom>
          <a:noFill/>
          <a:ln/>
        </p:spPr>
        <p:txBody>
          <a:bodyPr wrap="square" lIns="0" tIns="0" rIns="0" bIns="0" rtlCol="0" anchor="ctr"/>
          <a:lstStyle/>
          <a:p>
            <a:pPr indent="0" marL="0">
              <a:buNone/>
            </a:pPr>
            <a:r>
              <a:rPr lang="en-US" sz="1500" b="1" dirty="0">
                <a:solidFill>
                  <a:srgbClr val="14161B"/>
                </a:solidFill>
                <a:latin typeface="Calibri" pitchFamily="34" charset="0"/>
                <a:ea typeface="Calibri" pitchFamily="34" charset="-122"/>
                <a:cs typeface="Calibri" pitchFamily="34" charset="-120"/>
              </a:rPr>
              <a:t>Open it:  </a:t>
            </a:r>
            <a:pPr indent="0" marL="0">
              <a:buNone/>
            </a:pPr>
            <a:r>
              <a:rPr lang="en-US" sz="1500" dirty="0">
                <a:solidFill>
                  <a:srgbClr val="1B7F86"/>
                </a:solidFill>
                <a:latin typeface="Calibri" pitchFamily="34" charset="0"/>
                <a:ea typeface="Calibri" pitchFamily="34" charset="-122"/>
                <a:cs typeface="Calibri" pitchFamily="34" charset="-120"/>
              </a:rPr>
              <a:t>thepastor.github.io/syllabus-desk</a:t>
            </a:r>
            <a:endParaRPr lang="en-US" sz="1500" dirty="0"/>
          </a:p>
        </p:txBody>
      </p:sp>
      <p:sp>
        <p:nvSpPr>
          <p:cNvPr id="8" name="Shape 6"/>
          <p:cNvSpPr/>
          <p:nvPr/>
        </p:nvSpPr>
        <p:spPr>
          <a:xfrm>
            <a:off x="7818120" y="548640"/>
            <a:ext cx="3931920" cy="3931920"/>
          </a:xfrm>
          <a:prstGeom prst="ellipse">
            <a:avLst/>
          </a:prstGeom>
          <a:solidFill>
            <a:srgbClr val="DDF0F1"/>
          </a:solidFill>
          <a:ln w="12700">
            <a:solidFill>
              <a:srgbClr val="DDF0F1"/>
            </a:solidFill>
            <a:prstDash val="solid"/>
          </a:ln>
        </p:spPr>
      </p:sp>
      <p:sp>
        <p:nvSpPr>
          <p:cNvPr id="9" name="Shape 7"/>
          <p:cNvSpPr/>
          <p:nvPr/>
        </p:nvSpPr>
        <p:spPr>
          <a:xfrm>
            <a:off x="8467344" y="877824"/>
            <a:ext cx="2724912" cy="5285232"/>
          </a:xfrm>
          <a:prstGeom prst="roundRect">
            <a:avLst>
              <a:gd name="adj" fmla="val 9396"/>
            </a:avLst>
          </a:prstGeom>
          <a:solidFill>
            <a:srgbClr val="1E232B"/>
          </a:solidFill>
          <a:ln w="12700">
            <a:solidFill>
              <a:srgbClr val="2C323C"/>
            </a:solidFill>
            <a:prstDash val="solid"/>
          </a:ln>
          <a:effectLst>
            <a:outerShdw sx="100000" sy="100000" kx="0" ky="0" algn="bl" rotWithShape="0" blurRad="228600" dist="76200" dir="5400000">
              <a:srgbClr val="000000">
                <a:alpha val="28000"/>
              </a:srgbClr>
            </a:outerShdw>
          </a:effectLst>
        </p:spPr>
      </p:sp>
      <p:pic>
        <p:nvPicPr>
          <p:cNvPr id="10" name="Image 0" descr="/home/claude/deck/img/m-syllabus-desk.png">    </p:cNvPr>
          <p:cNvPicPr>
            <a:picLocks noChangeAspect="1"/>
          </p:cNvPicPr>
          <p:nvPr/>
        </p:nvPicPr>
        <p:blipFill>
          <a:blip r:embed="rId1"/>
          <a:stretch>
            <a:fillRect/>
          </a:stretch>
        </p:blipFill>
        <p:spPr>
          <a:xfrm>
            <a:off x="8549640" y="960120"/>
            <a:ext cx="2560320" cy="5120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6"/>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1B7F86"/>
                </a:solidFill>
                <a:latin typeface="Courier New" pitchFamily="34" charset="0"/>
                <a:ea typeface="Courier New" pitchFamily="34" charset="-122"/>
                <a:cs typeface="Courier New" pitchFamily="34" charset="-120"/>
              </a:rPr>
              <a:t>[ HOW TO USE IT ]</a:t>
            </a:r>
            <a:endParaRPr lang="en-US" sz="1300" dirty="0"/>
          </a:p>
        </p:txBody>
      </p:sp>
      <p:sp>
        <p:nvSpPr>
          <p:cNvPr id="3" name="Text 1"/>
          <p:cNvSpPr txBox="1"/>
          <p:nvPr/>
        </p:nvSpPr>
        <p:spPr>
          <a:xfrm>
            <a:off x="548640" y="822960"/>
            <a:ext cx="10972800" cy="1188720"/>
          </a:xfrm>
          <a:prstGeom prst="rect">
            <a:avLst/>
          </a:prstGeom>
          <a:noFill/>
          <a:ln/>
        </p:spPr>
        <p:txBody>
          <a:bodyPr wrap="square" lIns="0" tIns="0" rIns="0" bIns="0" rtlCol="0" anchor="t"/>
          <a:lstStyle/>
          <a:p>
            <a:pPr indent="0" marL="0">
              <a:buNone/>
            </a:pPr>
            <a:r>
              <a:rPr lang="en-US" sz="4000" b="1" dirty="0">
                <a:solidFill>
                  <a:srgbClr val="14161B"/>
                </a:solidFill>
                <a:latin typeface="Calibri" pitchFamily="34" charset="0"/>
                <a:ea typeface="Calibri" pitchFamily="34" charset="-122"/>
                <a:cs typeface="Calibri" pitchFamily="34" charset="-120"/>
              </a:rPr>
              <a:t>Your whole term in about 10 minutes</a:t>
            </a:r>
            <a:endParaRPr lang="en-US" sz="4000" dirty="0"/>
          </a:p>
        </p:txBody>
      </p:sp>
      <p:sp>
        <p:nvSpPr>
          <p:cNvPr id="4" name="Shape 2"/>
          <p:cNvSpPr/>
          <p:nvPr/>
        </p:nvSpPr>
        <p:spPr>
          <a:xfrm>
            <a:off x="548640" y="2148840"/>
            <a:ext cx="2587752" cy="3017520"/>
          </a:xfrm>
          <a:prstGeom prst="roundRect">
            <a:avLst>
              <a:gd name="adj" fmla="val 5300"/>
            </a:avLst>
          </a:prstGeom>
          <a:solidFill>
            <a:srgbClr val="FFFFFF"/>
          </a:solidFill>
          <a:ln w="12700">
            <a:solidFill>
              <a:srgbClr val="E3E5E8"/>
            </a:solidFill>
            <a:prstDash val="solid"/>
          </a:ln>
        </p:spPr>
      </p:sp>
      <p:sp>
        <p:nvSpPr>
          <p:cNvPr id="5" name="Shape 3"/>
          <p:cNvSpPr/>
          <p:nvPr/>
        </p:nvSpPr>
        <p:spPr>
          <a:xfrm>
            <a:off x="822960" y="2423160"/>
            <a:ext cx="640080" cy="640080"/>
          </a:xfrm>
          <a:prstGeom prst="ellipse">
            <a:avLst/>
          </a:prstGeom>
          <a:solidFill>
            <a:srgbClr val="1B7F86"/>
          </a:solidFill>
          <a:ln/>
        </p:spPr>
      </p:sp>
      <p:sp>
        <p:nvSpPr>
          <p:cNvPr id="6" name="Text 4"/>
          <p:cNvSpPr txBox="1"/>
          <p:nvPr/>
        </p:nvSpPr>
        <p:spPr>
          <a:xfrm>
            <a:off x="822960" y="2423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822960" y="3291840"/>
            <a:ext cx="2103120" cy="457200"/>
          </a:xfrm>
          <a:prstGeom prst="rect">
            <a:avLst/>
          </a:prstGeom>
          <a:noFill/>
          <a:ln/>
        </p:spPr>
        <p:txBody>
          <a:bodyPr wrap="square" lIns="0" tIns="0" rIns="0" bIns="0" rtlCol="0" anchor="ctr"/>
          <a:lstStyle/>
          <a:p>
            <a:pPr indent="0" marL="0">
              <a:buNone/>
            </a:pPr>
            <a:r>
              <a:rPr lang="en-US" sz="2000" b="1" dirty="0">
                <a:solidFill>
                  <a:srgbClr val="14161B"/>
                </a:solidFill>
                <a:latin typeface="Calibri" pitchFamily="34" charset="0"/>
                <a:ea typeface="Calibri" pitchFamily="34" charset="-122"/>
                <a:cs typeface="Calibri" pitchFamily="34" charset="-120"/>
              </a:rPr>
              <a:t>Add a course</a:t>
            </a:r>
            <a:endParaRPr lang="en-US" sz="2000" dirty="0"/>
          </a:p>
        </p:txBody>
      </p:sp>
      <p:sp>
        <p:nvSpPr>
          <p:cNvPr id="8" name="Text 6"/>
          <p:cNvSpPr txBox="1"/>
          <p:nvPr/>
        </p:nvSpPr>
        <p:spPr>
          <a:xfrm>
            <a:off x="822960" y="3794760"/>
            <a:ext cx="2103120" cy="1188720"/>
          </a:xfrm>
          <a:prstGeom prst="rect">
            <a:avLst/>
          </a:prstGeom>
          <a:noFill/>
          <a:ln/>
        </p:spPr>
        <p:txBody>
          <a:bodyPr wrap="square" lIns="0" tIns="0" rIns="0" bIns="0" rtlCol="0" anchor="t"/>
          <a:lstStyle/>
          <a:p>
            <a:pPr indent="0" marL="0">
              <a:buNone/>
            </a:pPr>
            <a:r>
              <a:rPr lang="en-US" sz="1500" dirty="0">
                <a:solidFill>
                  <a:srgbClr val="5A606B"/>
                </a:solidFill>
                <a:latin typeface="Calibri" pitchFamily="34" charset="0"/>
                <a:ea typeface="Calibri" pitchFamily="34" charset="-122"/>
                <a:cs typeface="Calibri" pitchFamily="34" charset="-120"/>
              </a:rPr>
              <a:t>Tap Add course and paste the outline, or drop in the PDF.</a:t>
            </a:r>
            <a:endParaRPr lang="en-US" sz="1500" dirty="0"/>
          </a:p>
        </p:txBody>
      </p:sp>
      <p:sp>
        <p:nvSpPr>
          <p:cNvPr id="9" name="Shape 7"/>
          <p:cNvSpPr/>
          <p:nvPr/>
        </p:nvSpPr>
        <p:spPr>
          <a:xfrm>
            <a:off x="3364992" y="2148840"/>
            <a:ext cx="2587752" cy="3017520"/>
          </a:xfrm>
          <a:prstGeom prst="roundRect">
            <a:avLst>
              <a:gd name="adj" fmla="val 5300"/>
            </a:avLst>
          </a:prstGeom>
          <a:solidFill>
            <a:srgbClr val="FFFFFF"/>
          </a:solidFill>
          <a:ln w="12700">
            <a:solidFill>
              <a:srgbClr val="E3E5E8"/>
            </a:solidFill>
            <a:prstDash val="solid"/>
          </a:ln>
        </p:spPr>
      </p:sp>
      <p:sp>
        <p:nvSpPr>
          <p:cNvPr id="10" name="Shape 8"/>
          <p:cNvSpPr/>
          <p:nvPr/>
        </p:nvSpPr>
        <p:spPr>
          <a:xfrm>
            <a:off x="3639312" y="2423160"/>
            <a:ext cx="640080" cy="640080"/>
          </a:xfrm>
          <a:prstGeom prst="ellipse">
            <a:avLst/>
          </a:prstGeom>
          <a:solidFill>
            <a:srgbClr val="1B7F86"/>
          </a:solidFill>
          <a:ln/>
        </p:spPr>
      </p:sp>
      <p:sp>
        <p:nvSpPr>
          <p:cNvPr id="11" name="Text 9"/>
          <p:cNvSpPr txBox="1"/>
          <p:nvPr/>
        </p:nvSpPr>
        <p:spPr>
          <a:xfrm>
            <a:off x="3639312" y="2423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3639312" y="3291840"/>
            <a:ext cx="2103120" cy="457200"/>
          </a:xfrm>
          <a:prstGeom prst="rect">
            <a:avLst/>
          </a:prstGeom>
          <a:noFill/>
          <a:ln/>
        </p:spPr>
        <p:txBody>
          <a:bodyPr wrap="square" lIns="0" tIns="0" rIns="0" bIns="0" rtlCol="0" anchor="ctr"/>
          <a:lstStyle/>
          <a:p>
            <a:pPr indent="0" marL="0">
              <a:buNone/>
            </a:pPr>
            <a:r>
              <a:rPr lang="en-US" sz="2000" b="1" dirty="0">
                <a:solidFill>
                  <a:srgbClr val="14161B"/>
                </a:solidFill>
                <a:latin typeface="Calibri" pitchFamily="34" charset="0"/>
                <a:ea typeface="Calibri" pitchFamily="34" charset="-122"/>
                <a:cs typeface="Calibri" pitchFamily="34" charset="-120"/>
              </a:rPr>
              <a:t>Check the dates</a:t>
            </a:r>
            <a:endParaRPr lang="en-US" sz="2000" dirty="0"/>
          </a:p>
        </p:txBody>
      </p:sp>
      <p:sp>
        <p:nvSpPr>
          <p:cNvPr id="13" name="Text 11"/>
          <p:cNvSpPr txBox="1"/>
          <p:nvPr/>
        </p:nvSpPr>
        <p:spPr>
          <a:xfrm>
            <a:off x="3639312" y="3794760"/>
            <a:ext cx="2103120" cy="1188720"/>
          </a:xfrm>
          <a:prstGeom prst="rect">
            <a:avLst/>
          </a:prstGeom>
          <a:noFill/>
          <a:ln/>
        </p:spPr>
        <p:txBody>
          <a:bodyPr wrap="square" lIns="0" tIns="0" rIns="0" bIns="0" rtlCol="0" anchor="t"/>
          <a:lstStyle/>
          <a:p>
            <a:pPr indent="0" marL="0">
              <a:buNone/>
            </a:pPr>
            <a:r>
              <a:rPr lang="en-US" sz="1500" dirty="0">
                <a:solidFill>
                  <a:srgbClr val="5A606B"/>
                </a:solidFill>
                <a:latin typeface="Calibri" pitchFamily="34" charset="0"/>
                <a:ea typeface="Calibri" pitchFamily="34" charset="-122"/>
                <a:cs typeface="Calibri" pitchFamily="34" charset="-120"/>
              </a:rPr>
              <a:t>Every date lands in an editable table first. Fix anything that looks off.</a:t>
            </a:r>
            <a:endParaRPr lang="en-US" sz="1500" dirty="0"/>
          </a:p>
        </p:txBody>
      </p:sp>
      <p:sp>
        <p:nvSpPr>
          <p:cNvPr id="14" name="Shape 12"/>
          <p:cNvSpPr/>
          <p:nvPr/>
        </p:nvSpPr>
        <p:spPr>
          <a:xfrm>
            <a:off x="6181344" y="2148840"/>
            <a:ext cx="2587752" cy="3017520"/>
          </a:xfrm>
          <a:prstGeom prst="roundRect">
            <a:avLst>
              <a:gd name="adj" fmla="val 5300"/>
            </a:avLst>
          </a:prstGeom>
          <a:solidFill>
            <a:srgbClr val="FFFFFF"/>
          </a:solidFill>
          <a:ln w="12700">
            <a:solidFill>
              <a:srgbClr val="E3E5E8"/>
            </a:solidFill>
            <a:prstDash val="solid"/>
          </a:ln>
        </p:spPr>
      </p:sp>
      <p:sp>
        <p:nvSpPr>
          <p:cNvPr id="15" name="Shape 13"/>
          <p:cNvSpPr/>
          <p:nvPr/>
        </p:nvSpPr>
        <p:spPr>
          <a:xfrm>
            <a:off x="6455664" y="2423160"/>
            <a:ext cx="640080" cy="640080"/>
          </a:xfrm>
          <a:prstGeom prst="ellipse">
            <a:avLst/>
          </a:prstGeom>
          <a:solidFill>
            <a:srgbClr val="1B7F86"/>
          </a:solidFill>
          <a:ln/>
        </p:spPr>
      </p:sp>
      <p:sp>
        <p:nvSpPr>
          <p:cNvPr id="16" name="Text 14"/>
          <p:cNvSpPr txBox="1"/>
          <p:nvPr/>
        </p:nvSpPr>
        <p:spPr>
          <a:xfrm>
            <a:off x="6455664" y="2423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6455664" y="3291840"/>
            <a:ext cx="2103120" cy="457200"/>
          </a:xfrm>
          <a:prstGeom prst="rect">
            <a:avLst/>
          </a:prstGeom>
          <a:noFill/>
          <a:ln/>
        </p:spPr>
        <p:txBody>
          <a:bodyPr wrap="square" lIns="0" tIns="0" rIns="0" bIns="0" rtlCol="0" anchor="ctr"/>
          <a:lstStyle/>
          <a:p>
            <a:pPr indent="0" marL="0">
              <a:buNone/>
            </a:pPr>
            <a:r>
              <a:rPr lang="en-US" sz="2000" b="1" dirty="0">
                <a:solidFill>
                  <a:srgbClr val="14161B"/>
                </a:solidFill>
                <a:latin typeface="Calibri" pitchFamily="34" charset="0"/>
                <a:ea typeface="Calibri" pitchFamily="34" charset="-122"/>
                <a:cs typeface="Calibri" pitchFamily="34" charset="-120"/>
              </a:rPr>
              <a:t>Do every course</a:t>
            </a:r>
            <a:endParaRPr lang="en-US" sz="2000" dirty="0"/>
          </a:p>
        </p:txBody>
      </p:sp>
      <p:sp>
        <p:nvSpPr>
          <p:cNvPr id="18" name="Text 16"/>
          <p:cNvSpPr txBox="1"/>
          <p:nvPr/>
        </p:nvSpPr>
        <p:spPr>
          <a:xfrm>
            <a:off x="6455664" y="3794760"/>
            <a:ext cx="2103120" cy="1188720"/>
          </a:xfrm>
          <a:prstGeom prst="rect">
            <a:avLst/>
          </a:prstGeom>
          <a:noFill/>
          <a:ln/>
        </p:spPr>
        <p:txBody>
          <a:bodyPr wrap="square" lIns="0" tIns="0" rIns="0" bIns="0" rtlCol="0" anchor="t"/>
          <a:lstStyle/>
          <a:p>
            <a:pPr indent="0" marL="0">
              <a:buNone/>
            </a:pPr>
            <a:r>
              <a:rPr lang="en-US" sz="1500" dirty="0">
                <a:solidFill>
                  <a:srgbClr val="5A606B"/>
                </a:solidFill>
                <a:latin typeface="Calibri" pitchFamily="34" charset="0"/>
                <a:ea typeface="Calibri" pitchFamily="34" charset="-122"/>
                <a:cs typeface="Calibri" pitchFamily="34" charset="-120"/>
              </a:rPr>
              <a:t>Four or five outlines and your whole term is on one page.</a:t>
            </a:r>
            <a:endParaRPr lang="en-US" sz="1500" dirty="0"/>
          </a:p>
        </p:txBody>
      </p:sp>
      <p:sp>
        <p:nvSpPr>
          <p:cNvPr id="19" name="Shape 17"/>
          <p:cNvSpPr/>
          <p:nvPr/>
        </p:nvSpPr>
        <p:spPr>
          <a:xfrm>
            <a:off x="8997696" y="2148840"/>
            <a:ext cx="2587752" cy="3017520"/>
          </a:xfrm>
          <a:prstGeom prst="roundRect">
            <a:avLst>
              <a:gd name="adj" fmla="val 5300"/>
            </a:avLst>
          </a:prstGeom>
          <a:solidFill>
            <a:srgbClr val="FFFFFF"/>
          </a:solidFill>
          <a:ln w="12700">
            <a:solidFill>
              <a:srgbClr val="E3E5E8"/>
            </a:solidFill>
            <a:prstDash val="solid"/>
          </a:ln>
        </p:spPr>
      </p:sp>
      <p:sp>
        <p:nvSpPr>
          <p:cNvPr id="20" name="Shape 18"/>
          <p:cNvSpPr/>
          <p:nvPr/>
        </p:nvSpPr>
        <p:spPr>
          <a:xfrm>
            <a:off x="9272016" y="2423160"/>
            <a:ext cx="640080" cy="640080"/>
          </a:xfrm>
          <a:prstGeom prst="ellipse">
            <a:avLst/>
          </a:prstGeom>
          <a:solidFill>
            <a:srgbClr val="1B7F86"/>
          </a:solidFill>
          <a:ln/>
        </p:spPr>
      </p:sp>
      <p:sp>
        <p:nvSpPr>
          <p:cNvPr id="21" name="Text 19"/>
          <p:cNvSpPr txBox="1"/>
          <p:nvPr/>
        </p:nvSpPr>
        <p:spPr>
          <a:xfrm>
            <a:off x="9272016" y="2423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txBox="1"/>
          <p:nvPr/>
        </p:nvSpPr>
        <p:spPr>
          <a:xfrm>
            <a:off x="9272016" y="3291840"/>
            <a:ext cx="2103120" cy="457200"/>
          </a:xfrm>
          <a:prstGeom prst="rect">
            <a:avLst/>
          </a:prstGeom>
          <a:noFill/>
          <a:ln/>
        </p:spPr>
        <p:txBody>
          <a:bodyPr wrap="square" lIns="0" tIns="0" rIns="0" bIns="0" rtlCol="0" anchor="ctr"/>
          <a:lstStyle/>
          <a:p>
            <a:pPr indent="0" marL="0">
              <a:buNone/>
            </a:pPr>
            <a:r>
              <a:rPr lang="en-US" sz="2000" b="1" dirty="0">
                <a:solidFill>
                  <a:srgbClr val="14161B"/>
                </a:solidFill>
                <a:latin typeface="Calibri" pitchFamily="34" charset="0"/>
                <a:ea typeface="Calibri" pitchFamily="34" charset="-122"/>
                <a:cs typeface="Calibri" pitchFamily="34" charset="-120"/>
              </a:rPr>
              <a:t>Export</a:t>
            </a:r>
            <a:endParaRPr lang="en-US" sz="2000" dirty="0"/>
          </a:p>
        </p:txBody>
      </p:sp>
      <p:sp>
        <p:nvSpPr>
          <p:cNvPr id="23" name="Text 21"/>
          <p:cNvSpPr txBox="1"/>
          <p:nvPr/>
        </p:nvSpPr>
        <p:spPr>
          <a:xfrm>
            <a:off x="9272016" y="3794760"/>
            <a:ext cx="2103120" cy="1188720"/>
          </a:xfrm>
          <a:prstGeom prst="rect">
            <a:avLst/>
          </a:prstGeom>
          <a:noFill/>
          <a:ln/>
        </p:spPr>
        <p:txBody>
          <a:bodyPr wrap="square" lIns="0" tIns="0" rIns="0" bIns="0" rtlCol="0" anchor="t"/>
          <a:lstStyle/>
          <a:p>
            <a:pPr indent="0" marL="0">
              <a:buNone/>
            </a:pPr>
            <a:r>
              <a:rPr lang="en-US" sz="1500" dirty="0">
                <a:solidFill>
                  <a:srgbClr val="5A606B"/>
                </a:solidFill>
                <a:latin typeface="Calibri" pitchFamily="34" charset="0"/>
                <a:ea typeface="Calibri" pitchFamily="34" charset="-122"/>
                <a:cs typeface="Calibri" pitchFamily="34" charset="-120"/>
              </a:rPr>
              <a:t>Download the calendar file and import it into Google or Apple Calendar.</a:t>
            </a:r>
            <a:endParaRPr lang="en-US" sz="1500" dirty="0"/>
          </a:p>
        </p:txBody>
      </p:sp>
      <p:sp>
        <p:nvSpPr>
          <p:cNvPr id="24" name="Text 22"/>
          <p:cNvSpPr txBox="1"/>
          <p:nvPr/>
        </p:nvSpPr>
        <p:spPr>
          <a:xfrm>
            <a:off x="548640" y="5486400"/>
            <a:ext cx="10972800" cy="411480"/>
          </a:xfrm>
          <a:prstGeom prst="rect">
            <a:avLst/>
          </a:prstGeom>
          <a:noFill/>
          <a:ln/>
        </p:spPr>
        <p:txBody>
          <a:bodyPr wrap="square" lIns="0" tIns="0" rIns="0" bIns="0" rtlCol="0" anchor="ctr"/>
          <a:lstStyle/>
          <a:p>
            <a:pPr indent="0" marL="0">
              <a:buNone/>
            </a:pPr>
            <a:r>
              <a:rPr lang="en-US" sz="1500" i="1" dirty="0">
                <a:solidFill>
                  <a:srgbClr val="14161B"/>
                </a:solidFill>
                <a:latin typeface="Calibri" pitchFamily="34" charset="0"/>
                <a:ea typeface="Calibri" pitchFamily="34" charset="-122"/>
                <a:cs typeface="Calibri" pitchFamily="34" charset="-120"/>
              </a:rPr>
              <a:t>Tip: import into a separate calendar, so if something is wrong you delete one calendar instead of 40 events.</a:t>
            </a:r>
            <a:endParaRPr lang="en-US" sz="1500" dirty="0"/>
          </a:p>
        </p:txBody>
      </p:sp>
      <p:sp>
        <p:nvSpPr>
          <p:cNvPr id="25" name="Text 23"/>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rgbClr val="5A606B"/>
                </a:solidFill>
                <a:latin typeface="Calibri" pitchFamily="34" charset="0"/>
                <a:ea typeface="Calibri" pitchFamily="34" charset="-122"/>
                <a:cs typeface="Calibri" pitchFamily="34" charset="-120"/>
              </a:rPr>
              <a:t>thepastor.github.io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0E6B6B"/>
                </a:solidFill>
                <a:latin typeface="Courier New" pitchFamily="34" charset="0"/>
                <a:ea typeface="Courier New" pitchFamily="34" charset="-122"/>
                <a:cs typeface="Courier New" pitchFamily="34" charset="-120"/>
              </a:rPr>
              <a:t>[ 02 · STUDY ]</a:t>
            </a:r>
            <a:endParaRPr lang="en-US" sz="1300" dirty="0"/>
          </a:p>
        </p:txBody>
      </p:sp>
      <p:sp>
        <p:nvSpPr>
          <p:cNvPr id="3" name="Text 1"/>
          <p:cNvSpPr txBox="1"/>
          <p:nvPr/>
        </p:nvSpPr>
        <p:spPr>
          <a:xfrm>
            <a:off x="548640" y="822960"/>
            <a:ext cx="6858000" cy="1188720"/>
          </a:xfrm>
          <a:prstGeom prst="rect">
            <a:avLst/>
          </a:prstGeom>
          <a:noFill/>
          <a:ln/>
        </p:spPr>
        <p:txBody>
          <a:bodyPr wrap="square" lIns="0" tIns="0" rIns="0" bIns="0" rtlCol="0" anchor="t"/>
          <a:lstStyle/>
          <a:p>
            <a:pPr indent="0" marL="0">
              <a:buNone/>
            </a:pPr>
            <a:r>
              <a:rPr lang="en-US" sz="4400" b="1" dirty="0">
                <a:solidFill>
                  <a:srgbClr val="14161B"/>
                </a:solidFill>
                <a:latin typeface="Calibri" pitchFamily="34" charset="0"/>
                <a:ea typeface="Calibri" pitchFamily="34" charset="-122"/>
                <a:cs typeface="Calibri" pitchFamily="34" charset="-120"/>
              </a:rPr>
              <a:t>UNI Made EZ</a:t>
            </a:r>
            <a:endParaRPr lang="en-US" sz="4400" dirty="0"/>
          </a:p>
        </p:txBody>
      </p:sp>
      <p:sp>
        <p:nvSpPr>
          <p:cNvPr id="4" name="Text 2"/>
          <p:cNvSpPr txBox="1"/>
          <p:nvPr/>
        </p:nvSpPr>
        <p:spPr>
          <a:xfrm>
            <a:off x="548640" y="1600200"/>
            <a:ext cx="6583680" cy="822960"/>
          </a:xfrm>
          <a:prstGeom prst="rect">
            <a:avLst/>
          </a:prstGeom>
          <a:noFill/>
          <a:ln/>
        </p:spPr>
        <p:txBody>
          <a:bodyPr wrap="square" lIns="0" tIns="0" rIns="0" bIns="0" rtlCol="0" anchor="t"/>
          <a:lstStyle/>
          <a:p>
            <a:pPr indent="0" marL="0">
              <a:buNone/>
            </a:pPr>
            <a:r>
              <a:rPr lang="en-US" sz="2000" dirty="0">
                <a:solidFill>
                  <a:srgbClr val="5A606B"/>
                </a:solidFill>
                <a:latin typeface="Calibri" pitchFamily="34" charset="0"/>
                <a:ea typeface="Calibri" pitchFamily="34" charset="-122"/>
                <a:cs typeface="Calibri" pitchFamily="34" charset="-120"/>
              </a:rPr>
              <a:t>Two ways to study: full courses written out, or your own files turned into study material.</a:t>
            </a:r>
            <a:endParaRPr lang="en-US" sz="2000" dirty="0"/>
          </a:p>
        </p:txBody>
      </p:sp>
      <p:sp>
        <p:nvSpPr>
          <p:cNvPr id="5" name="Text 3"/>
          <p:cNvSpPr txBox="1"/>
          <p:nvPr/>
        </p:nvSpPr>
        <p:spPr>
          <a:xfrm>
            <a:off x="548640" y="2606040"/>
            <a:ext cx="6492240" cy="26517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Drop in a PDF, Word file or text: get flashcards, a summary, key information and a quiz</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Quizzes mix multiple choice, true/false and fill-in-the-blank</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Full courses written out in math, law, accounting, sciences, economics and stats</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Works offline once it has loaded</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Sign-up is optional; the whole app works without it</a:t>
            </a:r>
            <a:endParaRPr lang="en-US" sz="1700" dirty="0"/>
          </a:p>
        </p:txBody>
      </p:sp>
      <p:sp>
        <p:nvSpPr>
          <p:cNvPr id="6" name="Shape 4"/>
          <p:cNvSpPr/>
          <p:nvPr/>
        </p:nvSpPr>
        <p:spPr>
          <a:xfrm>
            <a:off x="548640" y="5440680"/>
            <a:ext cx="6492240" cy="566928"/>
          </a:xfrm>
          <a:prstGeom prst="roundRect">
            <a:avLst>
              <a:gd name="adj" fmla="val 16129"/>
            </a:avLst>
          </a:prstGeom>
          <a:solidFill>
            <a:srgbClr val="F3F4F6"/>
          </a:solidFill>
          <a:ln w="12700">
            <a:solidFill>
              <a:srgbClr val="E3E5E8"/>
            </a:solidFill>
            <a:prstDash val="solid"/>
          </a:ln>
        </p:spPr>
      </p:sp>
      <p:sp>
        <p:nvSpPr>
          <p:cNvPr id="7" name="Text 5"/>
          <p:cNvSpPr txBox="1"/>
          <p:nvPr/>
        </p:nvSpPr>
        <p:spPr>
          <a:xfrm>
            <a:off x="777240" y="5440680"/>
            <a:ext cx="6217920" cy="566928"/>
          </a:xfrm>
          <a:prstGeom prst="rect">
            <a:avLst/>
          </a:prstGeom>
          <a:noFill/>
          <a:ln/>
        </p:spPr>
        <p:txBody>
          <a:bodyPr wrap="square" lIns="0" tIns="0" rIns="0" bIns="0" rtlCol="0" anchor="ctr"/>
          <a:lstStyle/>
          <a:p>
            <a:pPr indent="0" marL="0">
              <a:buNone/>
            </a:pPr>
            <a:r>
              <a:rPr lang="en-US" sz="1500" b="1" dirty="0">
                <a:solidFill>
                  <a:srgbClr val="14161B"/>
                </a:solidFill>
                <a:latin typeface="Calibri" pitchFamily="34" charset="0"/>
                <a:ea typeface="Calibri" pitchFamily="34" charset="-122"/>
                <a:cs typeface="Calibri" pitchFamily="34" charset="-120"/>
              </a:rPr>
              <a:t>Open it:  </a:t>
            </a:r>
            <a:pPr indent="0" marL="0">
              <a:buNone/>
            </a:pPr>
            <a:r>
              <a:rPr lang="en-US" sz="1500" dirty="0">
                <a:solidFill>
                  <a:srgbClr val="0E6B6B"/>
                </a:solidFill>
                <a:latin typeface="Calibri" pitchFamily="34" charset="0"/>
                <a:ea typeface="Calibri" pitchFamily="34" charset="-122"/>
                <a:cs typeface="Calibri" pitchFamily="34" charset="-120"/>
              </a:rPr>
              <a:t>thepastor.github.io/uni-made-ez</a:t>
            </a:r>
            <a:endParaRPr lang="en-US" sz="1500" dirty="0"/>
          </a:p>
        </p:txBody>
      </p:sp>
      <p:sp>
        <p:nvSpPr>
          <p:cNvPr id="8" name="Shape 6"/>
          <p:cNvSpPr/>
          <p:nvPr/>
        </p:nvSpPr>
        <p:spPr>
          <a:xfrm>
            <a:off x="7818120" y="548640"/>
            <a:ext cx="3931920" cy="3931920"/>
          </a:xfrm>
          <a:prstGeom prst="ellipse">
            <a:avLst/>
          </a:prstGeom>
          <a:solidFill>
            <a:srgbClr val="EEF8C9"/>
          </a:solidFill>
          <a:ln w="12700">
            <a:solidFill>
              <a:srgbClr val="EEF8C9"/>
            </a:solidFill>
            <a:prstDash val="solid"/>
          </a:ln>
        </p:spPr>
      </p:sp>
      <p:sp>
        <p:nvSpPr>
          <p:cNvPr id="9" name="Shape 7"/>
          <p:cNvSpPr/>
          <p:nvPr/>
        </p:nvSpPr>
        <p:spPr>
          <a:xfrm>
            <a:off x="8467344" y="877824"/>
            <a:ext cx="2724912" cy="5285232"/>
          </a:xfrm>
          <a:prstGeom prst="roundRect">
            <a:avLst>
              <a:gd name="adj" fmla="val 9396"/>
            </a:avLst>
          </a:prstGeom>
          <a:solidFill>
            <a:srgbClr val="1E232B"/>
          </a:solidFill>
          <a:ln w="12700">
            <a:solidFill>
              <a:srgbClr val="2C323C"/>
            </a:solidFill>
            <a:prstDash val="solid"/>
          </a:ln>
          <a:effectLst>
            <a:outerShdw sx="100000" sy="100000" kx="0" ky="0" algn="bl" rotWithShape="0" blurRad="228600" dist="76200" dir="5400000">
              <a:srgbClr val="000000">
                <a:alpha val="28000"/>
              </a:srgbClr>
            </a:outerShdw>
          </a:effectLst>
        </p:spPr>
      </p:sp>
      <p:pic>
        <p:nvPicPr>
          <p:cNvPr id="10" name="Image 0" descr="/home/claude/deck/img/m-uni-made-ez.png">    </p:cNvPr>
          <p:cNvPicPr>
            <a:picLocks noChangeAspect="1"/>
          </p:cNvPicPr>
          <p:nvPr/>
        </p:nvPicPr>
        <p:blipFill>
          <a:blip r:embed="rId1"/>
          <a:stretch>
            <a:fillRect/>
          </a:stretch>
        </p:blipFill>
        <p:spPr>
          <a:xfrm>
            <a:off x="8549640" y="960120"/>
            <a:ext cx="2560320" cy="5120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F13"/>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D4F05A"/>
                </a:solidFill>
                <a:latin typeface="Courier New" pitchFamily="34" charset="0"/>
                <a:ea typeface="Courier New" pitchFamily="34" charset="-122"/>
                <a:cs typeface="Courier New" pitchFamily="34" charset="-120"/>
              </a:rPr>
              <a:t>[ HOW TO USE IT ]</a:t>
            </a:r>
            <a:endParaRPr lang="en-US" sz="1300" dirty="0"/>
          </a:p>
        </p:txBody>
      </p:sp>
      <p:sp>
        <p:nvSpPr>
          <p:cNvPr id="3" name="Text 1"/>
          <p:cNvSpPr txBox="1"/>
          <p:nvPr/>
        </p:nvSpPr>
        <p:spPr>
          <a:xfrm>
            <a:off x="548640" y="822960"/>
            <a:ext cx="10972800" cy="11887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From lecture slides to a practice quiz</a:t>
            </a:r>
            <a:endParaRPr lang="en-US" sz="4000" dirty="0"/>
          </a:p>
        </p:txBody>
      </p:sp>
      <p:sp>
        <p:nvSpPr>
          <p:cNvPr id="4" name="Shape 2"/>
          <p:cNvSpPr/>
          <p:nvPr/>
        </p:nvSpPr>
        <p:spPr>
          <a:xfrm>
            <a:off x="640080" y="2194560"/>
            <a:ext cx="457200" cy="457200"/>
          </a:xfrm>
          <a:prstGeom prst="ellipse">
            <a:avLst/>
          </a:prstGeom>
          <a:solidFill>
            <a:srgbClr val="D4F05A"/>
          </a:solidFill>
          <a:ln/>
        </p:spPr>
      </p:sp>
      <p:sp>
        <p:nvSpPr>
          <p:cNvPr id="5" name="Text 3"/>
          <p:cNvSpPr txBox="1"/>
          <p:nvPr/>
        </p:nvSpPr>
        <p:spPr>
          <a:xfrm>
            <a:off x="640080" y="2194560"/>
            <a:ext cx="457200" cy="457200"/>
          </a:xfrm>
          <a:prstGeom prst="rect">
            <a:avLst/>
          </a:prstGeom>
          <a:noFill/>
          <a:ln/>
        </p:spPr>
        <p:txBody>
          <a:bodyPr wrap="square" lIns="0" tIns="0" rIns="0" bIns="0" rtlCol="0" anchor="ctr"/>
          <a:lstStyle/>
          <a:p>
            <a:pPr algn="ctr" indent="0" marL="0">
              <a:buNone/>
            </a:pPr>
            <a:r>
              <a:rPr lang="en-US" sz="1600" b="1" dirty="0">
                <a:solidFill>
                  <a:srgbClr val="14161B"/>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98448" y="2157984"/>
            <a:ext cx="566928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Open UNI Made EZ</a:t>
            </a:r>
            <a:endParaRPr lang="en-US" sz="1900" dirty="0"/>
          </a:p>
        </p:txBody>
      </p:sp>
      <p:sp>
        <p:nvSpPr>
          <p:cNvPr id="7" name="Text 5"/>
          <p:cNvSpPr txBox="1"/>
          <p:nvPr/>
        </p:nvSpPr>
        <p:spPr>
          <a:xfrm>
            <a:off x="1298448" y="2496312"/>
            <a:ext cx="5669280" cy="548640"/>
          </a:xfrm>
          <a:prstGeom prst="rect">
            <a:avLst/>
          </a:prstGeom>
          <a:noFill/>
          <a:ln/>
        </p:spPr>
        <p:txBody>
          <a:bodyPr wrap="square" lIns="0" tIns="0" rIns="0" bIns="0" rtlCol="0" anchor="t"/>
          <a:lstStyle/>
          <a:p>
            <a:pPr indent="0" marL="0">
              <a:buNone/>
            </a:pPr>
            <a:r>
              <a:rPr lang="en-US" sz="1450" dirty="0">
                <a:solidFill>
                  <a:srgbClr val="B4BAC4"/>
                </a:solidFill>
                <a:latin typeface="Calibri" pitchFamily="34" charset="0"/>
                <a:ea typeface="Calibri" pitchFamily="34" charset="-122"/>
                <a:cs typeface="Calibri" pitchFamily="34" charset="-120"/>
              </a:rPr>
              <a:t>Tap Skip for now, or sign up if you like. It works the same either way.</a:t>
            </a:r>
            <a:endParaRPr lang="en-US" sz="1450" dirty="0"/>
          </a:p>
        </p:txBody>
      </p:sp>
      <p:sp>
        <p:nvSpPr>
          <p:cNvPr id="8" name="Shape 6"/>
          <p:cNvSpPr/>
          <p:nvPr/>
        </p:nvSpPr>
        <p:spPr>
          <a:xfrm>
            <a:off x="640080" y="3127248"/>
            <a:ext cx="457200" cy="457200"/>
          </a:xfrm>
          <a:prstGeom prst="ellipse">
            <a:avLst/>
          </a:prstGeom>
          <a:solidFill>
            <a:srgbClr val="D4F05A"/>
          </a:solidFill>
          <a:ln/>
        </p:spPr>
      </p:sp>
      <p:sp>
        <p:nvSpPr>
          <p:cNvPr id="9" name="Text 7"/>
          <p:cNvSpPr txBox="1"/>
          <p:nvPr/>
        </p:nvSpPr>
        <p:spPr>
          <a:xfrm>
            <a:off x="640080" y="3127248"/>
            <a:ext cx="457200" cy="457200"/>
          </a:xfrm>
          <a:prstGeom prst="rect">
            <a:avLst/>
          </a:prstGeom>
          <a:noFill/>
          <a:ln/>
        </p:spPr>
        <p:txBody>
          <a:bodyPr wrap="square" lIns="0" tIns="0" rIns="0" bIns="0" rtlCol="0" anchor="ctr"/>
          <a:lstStyle/>
          <a:p>
            <a:pPr algn="ctr" indent="0" marL="0">
              <a:buNone/>
            </a:pPr>
            <a:r>
              <a:rPr lang="en-US" sz="1600" b="1" dirty="0">
                <a:solidFill>
                  <a:srgbClr val="14161B"/>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98448" y="3090672"/>
            <a:ext cx="566928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Add your file</a:t>
            </a:r>
            <a:endParaRPr lang="en-US" sz="1900" dirty="0"/>
          </a:p>
        </p:txBody>
      </p:sp>
      <p:sp>
        <p:nvSpPr>
          <p:cNvPr id="11" name="Text 9"/>
          <p:cNvSpPr txBox="1"/>
          <p:nvPr/>
        </p:nvSpPr>
        <p:spPr>
          <a:xfrm>
            <a:off x="1298448" y="3429000"/>
            <a:ext cx="5669280" cy="548640"/>
          </a:xfrm>
          <a:prstGeom prst="rect">
            <a:avLst/>
          </a:prstGeom>
          <a:noFill/>
          <a:ln/>
        </p:spPr>
        <p:txBody>
          <a:bodyPr wrap="square" lIns="0" tIns="0" rIns="0" bIns="0" rtlCol="0" anchor="t"/>
          <a:lstStyle/>
          <a:p>
            <a:pPr indent="0" marL="0">
              <a:buNone/>
            </a:pPr>
            <a:r>
              <a:rPr lang="en-US" sz="1450" dirty="0">
                <a:solidFill>
                  <a:srgbClr val="B4BAC4"/>
                </a:solidFill>
                <a:latin typeface="Calibri" pitchFamily="34" charset="0"/>
                <a:ea typeface="Calibri" pitchFamily="34" charset="-122"/>
                <a:cs typeface="Calibri" pitchFamily="34" charset="-120"/>
              </a:rPr>
              <a:t>Drop in lecture slides as PDF, Word or text.</a:t>
            </a:r>
            <a:endParaRPr lang="en-US" sz="1450" dirty="0"/>
          </a:p>
        </p:txBody>
      </p:sp>
      <p:sp>
        <p:nvSpPr>
          <p:cNvPr id="12" name="Shape 10"/>
          <p:cNvSpPr/>
          <p:nvPr/>
        </p:nvSpPr>
        <p:spPr>
          <a:xfrm>
            <a:off x="640080" y="4059936"/>
            <a:ext cx="457200" cy="457200"/>
          </a:xfrm>
          <a:prstGeom prst="ellipse">
            <a:avLst/>
          </a:prstGeom>
          <a:solidFill>
            <a:srgbClr val="D4F05A"/>
          </a:solidFill>
          <a:ln/>
        </p:spPr>
      </p:sp>
      <p:sp>
        <p:nvSpPr>
          <p:cNvPr id="13" name="Text 11"/>
          <p:cNvSpPr txBox="1"/>
          <p:nvPr/>
        </p:nvSpPr>
        <p:spPr>
          <a:xfrm>
            <a:off x="640080" y="4059936"/>
            <a:ext cx="457200" cy="457200"/>
          </a:xfrm>
          <a:prstGeom prst="rect">
            <a:avLst/>
          </a:prstGeom>
          <a:noFill/>
          <a:ln/>
        </p:spPr>
        <p:txBody>
          <a:bodyPr wrap="square" lIns="0" tIns="0" rIns="0" bIns="0" rtlCol="0" anchor="ctr"/>
          <a:lstStyle/>
          <a:p>
            <a:pPr algn="ctr" indent="0" marL="0">
              <a:buNone/>
            </a:pPr>
            <a:r>
              <a:rPr lang="en-US" sz="1600" b="1" dirty="0">
                <a:solidFill>
                  <a:srgbClr val="14161B"/>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98448" y="4023360"/>
            <a:ext cx="566928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Pick how to study</a:t>
            </a:r>
            <a:endParaRPr lang="en-US" sz="1900" dirty="0"/>
          </a:p>
        </p:txBody>
      </p:sp>
      <p:sp>
        <p:nvSpPr>
          <p:cNvPr id="15" name="Text 13"/>
          <p:cNvSpPr txBox="1"/>
          <p:nvPr/>
        </p:nvSpPr>
        <p:spPr>
          <a:xfrm>
            <a:off x="1298448" y="4361688"/>
            <a:ext cx="5669280" cy="548640"/>
          </a:xfrm>
          <a:prstGeom prst="rect">
            <a:avLst/>
          </a:prstGeom>
          <a:noFill/>
          <a:ln/>
        </p:spPr>
        <p:txBody>
          <a:bodyPr wrap="square" lIns="0" tIns="0" rIns="0" bIns="0" rtlCol="0" anchor="t"/>
          <a:lstStyle/>
          <a:p>
            <a:pPr indent="0" marL="0">
              <a:buNone/>
            </a:pPr>
            <a:r>
              <a:rPr lang="en-US" sz="1450" dirty="0">
                <a:solidFill>
                  <a:srgbClr val="B4BAC4"/>
                </a:solidFill>
                <a:latin typeface="Calibri" pitchFamily="34" charset="0"/>
                <a:ea typeface="Calibri" pitchFamily="34" charset="-122"/>
                <a:cs typeface="Calibri" pitchFamily="34" charset="-120"/>
              </a:rPr>
              <a:t>Flashcards, Summary, Key information or Quiz, each on its own page.</a:t>
            </a:r>
            <a:endParaRPr lang="en-US" sz="1450" dirty="0"/>
          </a:p>
        </p:txBody>
      </p:sp>
      <p:sp>
        <p:nvSpPr>
          <p:cNvPr id="16" name="Shape 14"/>
          <p:cNvSpPr/>
          <p:nvPr/>
        </p:nvSpPr>
        <p:spPr>
          <a:xfrm>
            <a:off x="640080" y="4992624"/>
            <a:ext cx="457200" cy="457200"/>
          </a:xfrm>
          <a:prstGeom prst="ellipse">
            <a:avLst/>
          </a:prstGeom>
          <a:solidFill>
            <a:srgbClr val="D4F05A"/>
          </a:solidFill>
          <a:ln/>
        </p:spPr>
      </p:sp>
      <p:sp>
        <p:nvSpPr>
          <p:cNvPr id="17" name="Text 15"/>
          <p:cNvSpPr txBox="1"/>
          <p:nvPr/>
        </p:nvSpPr>
        <p:spPr>
          <a:xfrm>
            <a:off x="640080" y="4992624"/>
            <a:ext cx="457200" cy="457200"/>
          </a:xfrm>
          <a:prstGeom prst="rect">
            <a:avLst/>
          </a:prstGeom>
          <a:noFill/>
          <a:ln/>
        </p:spPr>
        <p:txBody>
          <a:bodyPr wrap="square" lIns="0" tIns="0" rIns="0" bIns="0" rtlCol="0" anchor="ctr"/>
          <a:lstStyle/>
          <a:p>
            <a:pPr algn="ctr" indent="0" marL="0">
              <a:buNone/>
            </a:pPr>
            <a:r>
              <a:rPr lang="en-US" sz="1600" b="1" dirty="0">
                <a:solidFill>
                  <a:srgbClr val="14161B"/>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98448" y="4956048"/>
            <a:ext cx="566928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Test yourself</a:t>
            </a:r>
            <a:endParaRPr lang="en-US" sz="1900" dirty="0"/>
          </a:p>
        </p:txBody>
      </p:sp>
      <p:sp>
        <p:nvSpPr>
          <p:cNvPr id="19" name="Text 17"/>
          <p:cNvSpPr txBox="1"/>
          <p:nvPr/>
        </p:nvSpPr>
        <p:spPr>
          <a:xfrm>
            <a:off x="1298448" y="5294376"/>
            <a:ext cx="5669280" cy="548640"/>
          </a:xfrm>
          <a:prstGeom prst="rect">
            <a:avLst/>
          </a:prstGeom>
          <a:noFill/>
          <a:ln/>
        </p:spPr>
        <p:txBody>
          <a:bodyPr wrap="square" lIns="0" tIns="0" rIns="0" bIns="0" rtlCol="0" anchor="t"/>
          <a:lstStyle/>
          <a:p>
            <a:pPr indent="0" marL="0">
              <a:buNone/>
            </a:pPr>
            <a:r>
              <a:rPr lang="en-US" sz="1450" dirty="0">
                <a:solidFill>
                  <a:srgbClr val="B4BAC4"/>
                </a:solidFill>
                <a:latin typeface="Calibri" pitchFamily="34" charset="0"/>
                <a:ea typeface="Calibri" pitchFamily="34" charset="-122"/>
                <a:cs typeface="Calibri" pitchFamily="34" charset="-120"/>
              </a:rPr>
              <a:t>Take the quiz, see what you missed, and go again.</a:t>
            </a:r>
            <a:endParaRPr lang="en-US" sz="1450" dirty="0"/>
          </a:p>
        </p:txBody>
      </p:sp>
      <p:sp>
        <p:nvSpPr>
          <p:cNvPr id="20" name="Shape 18"/>
          <p:cNvSpPr/>
          <p:nvPr/>
        </p:nvSpPr>
        <p:spPr>
          <a:xfrm>
            <a:off x="7589520" y="2103120"/>
            <a:ext cx="4023360" cy="2651760"/>
          </a:xfrm>
          <a:prstGeom prst="roundRect">
            <a:avLst>
              <a:gd name="adj" fmla="val 6897"/>
            </a:avLst>
          </a:prstGeom>
          <a:solidFill>
            <a:srgbClr val="171B22"/>
          </a:solidFill>
          <a:ln w="12700">
            <a:solidFill>
              <a:srgbClr val="2C323C"/>
            </a:solidFill>
            <a:prstDash val="solid"/>
          </a:ln>
        </p:spPr>
      </p:sp>
      <p:sp>
        <p:nvSpPr>
          <p:cNvPr id="21" name="Text 19"/>
          <p:cNvSpPr txBox="1"/>
          <p:nvPr/>
        </p:nvSpPr>
        <p:spPr>
          <a:xfrm>
            <a:off x="7955280" y="2377440"/>
            <a:ext cx="3383280" cy="457200"/>
          </a:xfrm>
          <a:prstGeom prst="rect">
            <a:avLst/>
          </a:prstGeom>
          <a:noFill/>
          <a:ln/>
        </p:spPr>
        <p:txBody>
          <a:bodyPr wrap="square" lIns="0" tIns="0" rIns="0" bIns="0" rtlCol="0" anchor="ctr"/>
          <a:lstStyle/>
          <a:p>
            <a:pPr indent="0" marL="0">
              <a:buNone/>
            </a:pPr>
            <a:r>
              <a:rPr lang="en-US" sz="2200" b="1" dirty="0">
                <a:solidFill>
                  <a:srgbClr val="D4F05A"/>
                </a:solidFill>
                <a:latin typeface="Calibri" pitchFamily="34" charset="0"/>
                <a:ea typeface="Calibri" pitchFamily="34" charset="-122"/>
                <a:cs typeface="Calibri" pitchFamily="34" charset="-120"/>
              </a:rPr>
              <a:t>Why it works</a:t>
            </a:r>
            <a:endParaRPr lang="en-US" sz="2200" dirty="0"/>
          </a:p>
        </p:txBody>
      </p:sp>
      <p:sp>
        <p:nvSpPr>
          <p:cNvPr id="22" name="Text 20"/>
          <p:cNvSpPr txBox="1"/>
          <p:nvPr/>
        </p:nvSpPr>
        <p:spPr>
          <a:xfrm>
            <a:off x="7955280" y="2926080"/>
            <a:ext cx="3383280" cy="1645920"/>
          </a:xfrm>
          <a:prstGeom prst="rect">
            <a:avLst/>
          </a:prstGeom>
          <a:noFill/>
          <a:ln/>
        </p:spPr>
        <p:txBody>
          <a:bodyPr wrap="square" lIns="0" tIns="0" rIns="0" bIns="0" rtlCol="0" anchor="t"/>
          <a:lstStyle/>
          <a:p>
            <a:pPr indent="0" marL="0">
              <a:buNone/>
            </a:pPr>
            <a:r>
              <a:rPr lang="en-US" sz="1600" dirty="0">
                <a:solidFill>
                  <a:srgbClr val="D5D9E0"/>
                </a:solidFill>
                <a:latin typeface="Calibri" pitchFamily="34" charset="0"/>
                <a:ea typeface="Calibri" pitchFamily="34" charset="-122"/>
                <a:cs typeface="Calibri" pitchFamily="34" charset="-120"/>
              </a:rPr>
              <a:t>Testing yourself beats re-reading. It's one of the best-supported findings in learning research: retrieval practice, also called the testing effect.</a:t>
            </a:r>
            <a:endParaRPr lang="en-US" sz="1600" dirty="0"/>
          </a:p>
        </p:txBody>
      </p:sp>
      <p:sp>
        <p:nvSpPr>
          <p:cNvPr id="23" name="Text 21"/>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rgbClr val="8A919C"/>
                </a:solidFill>
                <a:latin typeface="Calibri" pitchFamily="34" charset="0"/>
                <a:ea typeface="Calibri" pitchFamily="34" charset="-122"/>
                <a:cs typeface="Calibri" pitchFamily="34" charset="-120"/>
              </a:rPr>
              <a:t>thepastor.github.io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9A6B08"/>
                </a:solidFill>
                <a:latin typeface="Courier New" pitchFamily="34" charset="0"/>
                <a:ea typeface="Courier New" pitchFamily="34" charset="-122"/>
                <a:cs typeface="Courier New" pitchFamily="34" charset="-120"/>
              </a:rPr>
              <a:t>[ 03 · READ ]</a:t>
            </a:r>
            <a:endParaRPr lang="en-US" sz="1300" dirty="0"/>
          </a:p>
        </p:txBody>
      </p:sp>
      <p:sp>
        <p:nvSpPr>
          <p:cNvPr id="3" name="Text 1"/>
          <p:cNvSpPr txBox="1"/>
          <p:nvPr/>
        </p:nvSpPr>
        <p:spPr>
          <a:xfrm>
            <a:off x="548640" y="822960"/>
            <a:ext cx="6858000" cy="1188720"/>
          </a:xfrm>
          <a:prstGeom prst="rect">
            <a:avLst/>
          </a:prstGeom>
          <a:noFill/>
          <a:ln/>
        </p:spPr>
        <p:txBody>
          <a:bodyPr wrap="square" lIns="0" tIns="0" rIns="0" bIns="0" rtlCol="0" anchor="t"/>
          <a:lstStyle/>
          <a:p>
            <a:pPr indent="0" marL="0">
              <a:buNone/>
            </a:pPr>
            <a:r>
              <a:rPr lang="en-US" sz="4400" b="1" dirty="0">
                <a:solidFill>
                  <a:srgbClr val="14161B"/>
                </a:solidFill>
                <a:latin typeface="Calibri" pitchFamily="34" charset="0"/>
                <a:ea typeface="Calibri" pitchFamily="34" charset="-122"/>
                <a:cs typeface="Calibri" pitchFamily="34" charset="-120"/>
              </a:rPr>
              <a:t>Read Fast</a:t>
            </a:r>
            <a:endParaRPr lang="en-US" sz="4400" dirty="0"/>
          </a:p>
        </p:txBody>
      </p:sp>
      <p:sp>
        <p:nvSpPr>
          <p:cNvPr id="4" name="Text 2"/>
          <p:cNvSpPr txBox="1"/>
          <p:nvPr/>
        </p:nvSpPr>
        <p:spPr>
          <a:xfrm>
            <a:off x="548640" y="1600200"/>
            <a:ext cx="6583680" cy="822960"/>
          </a:xfrm>
          <a:prstGeom prst="rect">
            <a:avLst/>
          </a:prstGeom>
          <a:noFill/>
          <a:ln/>
        </p:spPr>
        <p:txBody>
          <a:bodyPr wrap="square" lIns="0" tIns="0" rIns="0" bIns="0" rtlCol="0" anchor="t"/>
          <a:lstStyle/>
          <a:p>
            <a:pPr indent="0" marL="0">
              <a:buNone/>
            </a:pPr>
            <a:r>
              <a:rPr lang="en-US" sz="2000" dirty="0">
                <a:solidFill>
                  <a:srgbClr val="5A606B"/>
                </a:solidFill>
                <a:latin typeface="Calibri" pitchFamily="34" charset="0"/>
                <a:ea typeface="Calibri" pitchFamily="34" charset="-122"/>
                <a:cs typeface="Calibri" pitchFamily="34" charset="-120"/>
              </a:rPr>
              <a:t>Read books and readings one word at a time, in the middle of the screen, at the pace you choose.</a:t>
            </a:r>
            <a:endParaRPr lang="en-US" sz="2000" dirty="0"/>
          </a:p>
        </p:txBody>
      </p:sp>
      <p:sp>
        <p:nvSpPr>
          <p:cNvPr id="5" name="Text 3"/>
          <p:cNvSpPr txBox="1"/>
          <p:nvPr/>
        </p:nvSpPr>
        <p:spPr>
          <a:xfrm>
            <a:off x="548640" y="2606040"/>
            <a:ext cx="6492240" cy="26517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Opens PDF, EPUB, Word, text, Markdown and ZIP files</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Set your words per minute and speed up as you get comfortable</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Pause any time and pick up exactly where you left off</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Tracks words read, reading time and your daily streak</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Your books stay in your browser. Nothing is uploaded.</a:t>
            </a:r>
            <a:endParaRPr lang="en-US" sz="1700" dirty="0"/>
          </a:p>
        </p:txBody>
      </p:sp>
      <p:sp>
        <p:nvSpPr>
          <p:cNvPr id="6" name="Shape 4"/>
          <p:cNvSpPr/>
          <p:nvPr/>
        </p:nvSpPr>
        <p:spPr>
          <a:xfrm>
            <a:off x="548640" y="5440680"/>
            <a:ext cx="6492240" cy="566928"/>
          </a:xfrm>
          <a:prstGeom prst="roundRect">
            <a:avLst>
              <a:gd name="adj" fmla="val 16129"/>
            </a:avLst>
          </a:prstGeom>
          <a:solidFill>
            <a:srgbClr val="F3F4F6"/>
          </a:solidFill>
          <a:ln w="12700">
            <a:solidFill>
              <a:srgbClr val="E3E5E8"/>
            </a:solidFill>
            <a:prstDash val="solid"/>
          </a:ln>
        </p:spPr>
      </p:sp>
      <p:sp>
        <p:nvSpPr>
          <p:cNvPr id="7" name="Text 5"/>
          <p:cNvSpPr txBox="1"/>
          <p:nvPr/>
        </p:nvSpPr>
        <p:spPr>
          <a:xfrm>
            <a:off x="777240" y="5440680"/>
            <a:ext cx="6217920" cy="566928"/>
          </a:xfrm>
          <a:prstGeom prst="rect">
            <a:avLst/>
          </a:prstGeom>
          <a:noFill/>
          <a:ln/>
        </p:spPr>
        <p:txBody>
          <a:bodyPr wrap="square" lIns="0" tIns="0" rIns="0" bIns="0" rtlCol="0" anchor="ctr"/>
          <a:lstStyle/>
          <a:p>
            <a:pPr indent="0" marL="0">
              <a:buNone/>
            </a:pPr>
            <a:r>
              <a:rPr lang="en-US" sz="1500" b="1" dirty="0">
                <a:solidFill>
                  <a:srgbClr val="14161B"/>
                </a:solidFill>
                <a:latin typeface="Calibri" pitchFamily="34" charset="0"/>
                <a:ea typeface="Calibri" pitchFamily="34" charset="-122"/>
                <a:cs typeface="Calibri" pitchFamily="34" charset="-120"/>
              </a:rPr>
              <a:t>Open it:  </a:t>
            </a:r>
            <a:pPr indent="0" marL="0">
              <a:buNone/>
            </a:pPr>
            <a:r>
              <a:rPr lang="en-US" sz="1500" dirty="0">
                <a:solidFill>
                  <a:srgbClr val="9A6B08"/>
                </a:solidFill>
                <a:latin typeface="Calibri" pitchFamily="34" charset="0"/>
                <a:ea typeface="Calibri" pitchFamily="34" charset="-122"/>
                <a:cs typeface="Calibri" pitchFamily="34" charset="-120"/>
              </a:rPr>
              <a:t>thepastor.github.io/read-fast</a:t>
            </a:r>
            <a:endParaRPr lang="en-US" sz="1500" dirty="0"/>
          </a:p>
        </p:txBody>
      </p:sp>
      <p:sp>
        <p:nvSpPr>
          <p:cNvPr id="8" name="Shape 6"/>
          <p:cNvSpPr/>
          <p:nvPr/>
        </p:nvSpPr>
        <p:spPr>
          <a:xfrm>
            <a:off x="7818120" y="548640"/>
            <a:ext cx="3931920" cy="3931920"/>
          </a:xfrm>
          <a:prstGeom prst="ellipse">
            <a:avLst/>
          </a:prstGeom>
          <a:solidFill>
            <a:srgbClr val="FDEBCB"/>
          </a:solidFill>
          <a:ln w="12700">
            <a:solidFill>
              <a:srgbClr val="FDEBCB"/>
            </a:solidFill>
            <a:prstDash val="solid"/>
          </a:ln>
        </p:spPr>
      </p:sp>
      <p:sp>
        <p:nvSpPr>
          <p:cNvPr id="9" name="Shape 7"/>
          <p:cNvSpPr/>
          <p:nvPr/>
        </p:nvSpPr>
        <p:spPr>
          <a:xfrm>
            <a:off x="8467344" y="877824"/>
            <a:ext cx="2724912" cy="5285232"/>
          </a:xfrm>
          <a:prstGeom prst="roundRect">
            <a:avLst>
              <a:gd name="adj" fmla="val 9396"/>
            </a:avLst>
          </a:prstGeom>
          <a:solidFill>
            <a:srgbClr val="1E232B"/>
          </a:solidFill>
          <a:ln w="12700">
            <a:solidFill>
              <a:srgbClr val="2C323C"/>
            </a:solidFill>
            <a:prstDash val="solid"/>
          </a:ln>
          <a:effectLst>
            <a:outerShdw sx="100000" sy="100000" kx="0" ky="0" algn="bl" rotWithShape="0" blurRad="228600" dist="76200" dir="5400000">
              <a:srgbClr val="000000">
                <a:alpha val="28000"/>
              </a:srgbClr>
            </a:outerShdw>
          </a:effectLst>
        </p:spPr>
      </p:sp>
      <p:pic>
        <p:nvPicPr>
          <p:cNvPr id="10" name="Image 0" descr="/home/claude/deck/img/m-read-fast.png">    </p:cNvPr>
          <p:cNvPicPr>
            <a:picLocks noChangeAspect="1"/>
          </p:cNvPicPr>
          <p:nvPr/>
        </p:nvPicPr>
        <p:blipFill>
          <a:blip r:embed="rId1"/>
          <a:stretch>
            <a:fillRect/>
          </a:stretch>
        </p:blipFill>
        <p:spPr>
          <a:xfrm>
            <a:off x="8549640" y="960120"/>
            <a:ext cx="2560320" cy="5120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4F8FE6"/>
                </a:solidFill>
                <a:latin typeface="Courier New" pitchFamily="34" charset="0"/>
                <a:ea typeface="Courier New" pitchFamily="34" charset="-122"/>
                <a:cs typeface="Courier New" pitchFamily="34" charset="-120"/>
              </a:rPr>
              <a:t>[ 04 · LEARN ]</a:t>
            </a:r>
            <a:endParaRPr lang="en-US" sz="1300" dirty="0"/>
          </a:p>
        </p:txBody>
      </p:sp>
      <p:sp>
        <p:nvSpPr>
          <p:cNvPr id="3" name="Text 1"/>
          <p:cNvSpPr txBox="1"/>
          <p:nvPr/>
        </p:nvSpPr>
        <p:spPr>
          <a:xfrm>
            <a:off x="548640" y="822960"/>
            <a:ext cx="6858000" cy="1188720"/>
          </a:xfrm>
          <a:prstGeom prst="rect">
            <a:avLst/>
          </a:prstGeom>
          <a:noFill/>
          <a:ln/>
        </p:spPr>
        <p:txBody>
          <a:bodyPr wrap="square" lIns="0" tIns="0" rIns="0" bIns="0" rtlCol="0" anchor="t"/>
          <a:lstStyle/>
          <a:p>
            <a:pPr indent="0" marL="0">
              <a:buNone/>
            </a:pPr>
            <a:r>
              <a:rPr lang="en-US" sz="4400" b="1" dirty="0">
                <a:solidFill>
                  <a:srgbClr val="14161B"/>
                </a:solidFill>
                <a:latin typeface="Calibri" pitchFamily="34" charset="0"/>
                <a:ea typeface="Calibri" pitchFamily="34" charset="-122"/>
                <a:cs typeface="Calibri" pitchFamily="34" charset="-120"/>
              </a:rPr>
              <a:t>Vamos</a:t>
            </a:r>
            <a:endParaRPr lang="en-US" sz="4400" dirty="0"/>
          </a:p>
        </p:txBody>
      </p:sp>
      <p:sp>
        <p:nvSpPr>
          <p:cNvPr id="4" name="Text 2"/>
          <p:cNvSpPr txBox="1"/>
          <p:nvPr/>
        </p:nvSpPr>
        <p:spPr>
          <a:xfrm>
            <a:off x="548640" y="1600200"/>
            <a:ext cx="6583680" cy="822960"/>
          </a:xfrm>
          <a:prstGeom prst="rect">
            <a:avLst/>
          </a:prstGeom>
          <a:noFill/>
          <a:ln/>
        </p:spPr>
        <p:txBody>
          <a:bodyPr wrap="square" lIns="0" tIns="0" rIns="0" bIns="0" rtlCol="0" anchor="t"/>
          <a:lstStyle/>
          <a:p>
            <a:pPr indent="0" marL="0">
              <a:buNone/>
            </a:pPr>
            <a:r>
              <a:rPr lang="en-US" sz="2000" dirty="0">
                <a:solidFill>
                  <a:srgbClr val="5A606B"/>
                </a:solidFill>
                <a:latin typeface="Calibri" pitchFamily="34" charset="0"/>
                <a:ea typeface="Calibri" pitchFamily="34" charset="-122"/>
                <a:cs typeface="Calibri" pitchFamily="34" charset="-120"/>
              </a:rPr>
              <a:t>A full language course with a lesson path, daily streaks and games that make practice feel like play.</a:t>
            </a:r>
            <a:endParaRPr lang="en-US" sz="2000" dirty="0"/>
          </a:p>
        </p:txBody>
      </p:sp>
      <p:sp>
        <p:nvSpPr>
          <p:cNvPr id="5" name="Text 3"/>
          <p:cNvSpPr txBox="1"/>
          <p:nvPr/>
        </p:nvSpPr>
        <p:spPr>
          <a:xfrm>
            <a:off x="548640" y="2606040"/>
            <a:ext cx="6492240" cy="26517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Spanish, French and Japanese</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Speaking practice, dictation, sentence building and spaced review</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Games like Mercado, Lotería and a daily crossword</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Earn XP to grow a companion character as you improve</a:t>
            </a:r>
            <a:endParaRPr lang="en-US" sz="1700" dirty="0"/>
          </a:p>
          <a:p>
            <a:pPr marL="228600" indent="-228600">
              <a:spcAft>
                <a:spcPts val="1000"/>
              </a:spcAft>
              <a:buSzPct val="100000"/>
              <a:buChar char="•"/>
            </a:pPr>
            <a:r>
              <a:rPr lang="en-US" sz="1700" dirty="0">
                <a:solidFill>
                  <a:srgbClr val="14161B"/>
                </a:solidFill>
                <a:latin typeface="Calibri" pitchFamily="34" charset="0"/>
                <a:ea typeface="Calibri" pitchFamily="34" charset="-122"/>
                <a:cs typeface="Calibri" pitchFamily="34" charset="-120"/>
              </a:rPr>
              <a:t>Everything unlocked from day one</a:t>
            </a:r>
            <a:endParaRPr lang="en-US" sz="1700" dirty="0"/>
          </a:p>
        </p:txBody>
      </p:sp>
      <p:sp>
        <p:nvSpPr>
          <p:cNvPr id="6" name="Shape 4"/>
          <p:cNvSpPr/>
          <p:nvPr/>
        </p:nvSpPr>
        <p:spPr>
          <a:xfrm>
            <a:off x="548640" y="5440680"/>
            <a:ext cx="6492240" cy="566928"/>
          </a:xfrm>
          <a:prstGeom prst="roundRect">
            <a:avLst>
              <a:gd name="adj" fmla="val 16129"/>
            </a:avLst>
          </a:prstGeom>
          <a:solidFill>
            <a:srgbClr val="F3F4F6"/>
          </a:solidFill>
          <a:ln w="12700">
            <a:solidFill>
              <a:srgbClr val="E3E5E8"/>
            </a:solidFill>
            <a:prstDash val="solid"/>
          </a:ln>
        </p:spPr>
      </p:sp>
      <p:sp>
        <p:nvSpPr>
          <p:cNvPr id="7" name="Text 5"/>
          <p:cNvSpPr txBox="1"/>
          <p:nvPr/>
        </p:nvSpPr>
        <p:spPr>
          <a:xfrm>
            <a:off x="777240" y="5440680"/>
            <a:ext cx="6217920" cy="566928"/>
          </a:xfrm>
          <a:prstGeom prst="rect">
            <a:avLst/>
          </a:prstGeom>
          <a:noFill/>
          <a:ln/>
        </p:spPr>
        <p:txBody>
          <a:bodyPr wrap="square" lIns="0" tIns="0" rIns="0" bIns="0" rtlCol="0" anchor="ctr"/>
          <a:lstStyle/>
          <a:p>
            <a:pPr indent="0" marL="0">
              <a:buNone/>
            </a:pPr>
            <a:r>
              <a:rPr lang="en-US" sz="1500" b="1" dirty="0">
                <a:solidFill>
                  <a:srgbClr val="14161B"/>
                </a:solidFill>
                <a:latin typeface="Calibri" pitchFamily="34" charset="0"/>
                <a:ea typeface="Calibri" pitchFamily="34" charset="-122"/>
                <a:cs typeface="Calibri" pitchFamily="34" charset="-120"/>
              </a:rPr>
              <a:t>Open it:  </a:t>
            </a:r>
            <a:pPr indent="0" marL="0">
              <a:buNone/>
            </a:pPr>
            <a:r>
              <a:rPr lang="en-US" sz="1500" dirty="0">
                <a:solidFill>
                  <a:srgbClr val="4F8FE6"/>
                </a:solidFill>
                <a:latin typeface="Calibri" pitchFamily="34" charset="0"/>
                <a:ea typeface="Calibri" pitchFamily="34" charset="-122"/>
                <a:cs typeface="Calibri" pitchFamily="34" charset="-120"/>
              </a:rPr>
              <a:t>thepastor.github.io/vamos</a:t>
            </a:r>
            <a:endParaRPr lang="en-US" sz="1500" dirty="0"/>
          </a:p>
        </p:txBody>
      </p:sp>
      <p:sp>
        <p:nvSpPr>
          <p:cNvPr id="8" name="Shape 6"/>
          <p:cNvSpPr/>
          <p:nvPr/>
        </p:nvSpPr>
        <p:spPr>
          <a:xfrm>
            <a:off x="7818120" y="548640"/>
            <a:ext cx="3931920" cy="3931920"/>
          </a:xfrm>
          <a:prstGeom prst="ellipse">
            <a:avLst/>
          </a:prstGeom>
          <a:solidFill>
            <a:srgbClr val="DCE9FB"/>
          </a:solidFill>
          <a:ln w="12700">
            <a:solidFill>
              <a:srgbClr val="DCE9FB"/>
            </a:solidFill>
            <a:prstDash val="solid"/>
          </a:ln>
        </p:spPr>
      </p:sp>
      <p:sp>
        <p:nvSpPr>
          <p:cNvPr id="9" name="Shape 7"/>
          <p:cNvSpPr/>
          <p:nvPr/>
        </p:nvSpPr>
        <p:spPr>
          <a:xfrm>
            <a:off x="8467344" y="877824"/>
            <a:ext cx="2724912" cy="5285232"/>
          </a:xfrm>
          <a:prstGeom prst="roundRect">
            <a:avLst>
              <a:gd name="adj" fmla="val 9396"/>
            </a:avLst>
          </a:prstGeom>
          <a:solidFill>
            <a:srgbClr val="1E232B"/>
          </a:solidFill>
          <a:ln w="12700">
            <a:solidFill>
              <a:srgbClr val="2C323C"/>
            </a:solidFill>
            <a:prstDash val="solid"/>
          </a:ln>
          <a:effectLst>
            <a:outerShdw sx="100000" sy="100000" kx="0" ky="0" algn="bl" rotWithShape="0" blurRad="228600" dist="76200" dir="5400000">
              <a:srgbClr val="000000">
                <a:alpha val="28000"/>
              </a:srgbClr>
            </a:outerShdw>
          </a:effectLst>
        </p:spPr>
      </p:sp>
      <p:pic>
        <p:nvPicPr>
          <p:cNvPr id="10" name="Image 0" descr="/home/claude/deck/img/m-vamos.png">    </p:cNvPr>
          <p:cNvPicPr>
            <a:picLocks noChangeAspect="1"/>
          </p:cNvPicPr>
          <p:nvPr/>
        </p:nvPicPr>
        <p:blipFill>
          <a:blip r:embed="rId1"/>
          <a:stretch>
            <a:fillRect/>
          </a:stretch>
        </p:blipFill>
        <p:spPr>
          <a:xfrm>
            <a:off x="8549640" y="960120"/>
            <a:ext cx="2560320" cy="5120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9A6B08"/>
                </a:solidFill>
                <a:latin typeface="Courier New" pitchFamily="34" charset="0"/>
                <a:ea typeface="Courier New" pitchFamily="34" charset="-122"/>
                <a:cs typeface="Courier New" pitchFamily="34" charset="-120"/>
              </a:rPr>
              <a:t>[ WHY USE THEM ]</a:t>
            </a:r>
            <a:endParaRPr lang="en-US" sz="1300" dirty="0"/>
          </a:p>
        </p:txBody>
      </p:sp>
      <p:sp>
        <p:nvSpPr>
          <p:cNvPr id="3" name="Text 1"/>
          <p:cNvSpPr txBox="1"/>
          <p:nvPr/>
        </p:nvSpPr>
        <p:spPr>
          <a:xfrm>
            <a:off x="548640" y="822960"/>
            <a:ext cx="10972800" cy="1188720"/>
          </a:xfrm>
          <a:prstGeom prst="rect">
            <a:avLst/>
          </a:prstGeom>
          <a:noFill/>
          <a:ln/>
        </p:spPr>
        <p:txBody>
          <a:bodyPr wrap="square" lIns="0" tIns="0" rIns="0" bIns="0" rtlCol="0" anchor="t"/>
          <a:lstStyle/>
          <a:p>
            <a:pPr indent="0" marL="0">
              <a:buNone/>
            </a:pPr>
            <a:r>
              <a:rPr lang="en-US" sz="4000" b="1" dirty="0">
                <a:solidFill>
                  <a:srgbClr val="14161B"/>
                </a:solidFill>
                <a:latin typeface="Calibri" pitchFamily="34" charset="0"/>
                <a:ea typeface="Calibri" pitchFamily="34" charset="-122"/>
                <a:cs typeface="Calibri" pitchFamily="34" charset="-120"/>
              </a:rPr>
              <a:t>Built around how students actually work</a:t>
            </a:r>
            <a:endParaRPr lang="en-US" sz="4000" dirty="0"/>
          </a:p>
        </p:txBody>
      </p:sp>
      <p:sp>
        <p:nvSpPr>
          <p:cNvPr id="4" name="Shape 2"/>
          <p:cNvSpPr/>
          <p:nvPr/>
        </p:nvSpPr>
        <p:spPr>
          <a:xfrm>
            <a:off x="548640" y="2057400"/>
            <a:ext cx="3520440" cy="1691640"/>
          </a:xfrm>
          <a:prstGeom prst="roundRect">
            <a:avLst>
              <a:gd name="adj" fmla="val 8108"/>
            </a:avLst>
          </a:prstGeom>
          <a:solidFill>
            <a:srgbClr val="F3F4F6"/>
          </a:solidFill>
          <a:ln w="12700">
            <a:solidFill>
              <a:srgbClr val="E3E5E8"/>
            </a:solidFill>
            <a:prstDash val="solid"/>
          </a:ln>
        </p:spPr>
      </p:sp>
      <p:sp>
        <p:nvSpPr>
          <p:cNvPr id="5" name="Text 3"/>
          <p:cNvSpPr txBox="1"/>
          <p:nvPr/>
        </p:nvSpPr>
        <p:spPr>
          <a:xfrm>
            <a:off x="822960" y="2240280"/>
            <a:ext cx="3017520" cy="640080"/>
          </a:xfrm>
          <a:prstGeom prst="rect">
            <a:avLst/>
          </a:prstGeom>
          <a:noFill/>
          <a:ln/>
        </p:spPr>
        <p:txBody>
          <a:bodyPr wrap="square" lIns="0" tIns="0" rIns="0" bIns="0" rtlCol="0" anchor="ctr"/>
          <a:lstStyle/>
          <a:p>
            <a:pPr indent="0" marL="0">
              <a:buNone/>
            </a:pPr>
            <a:r>
              <a:rPr lang="en-US" sz="3200" b="1" dirty="0">
                <a:solidFill>
                  <a:srgbClr val="14161B"/>
                </a:solidFill>
                <a:latin typeface="Calibri" pitchFamily="34" charset="0"/>
                <a:ea typeface="Calibri" pitchFamily="34" charset="-122"/>
                <a:cs typeface="Calibri" pitchFamily="34" charset="-120"/>
              </a:rPr>
              <a:t>$0</a:t>
            </a:r>
            <a:endParaRPr lang="en-US" sz="3200" dirty="0"/>
          </a:p>
        </p:txBody>
      </p:sp>
      <p:sp>
        <p:nvSpPr>
          <p:cNvPr id="6" name="Text 4"/>
          <p:cNvSpPr txBox="1"/>
          <p:nvPr/>
        </p:nvSpPr>
        <p:spPr>
          <a:xfrm>
            <a:off x="822960" y="2880360"/>
            <a:ext cx="3017520" cy="320040"/>
          </a:xfrm>
          <a:prstGeom prst="rect">
            <a:avLst/>
          </a:prstGeom>
          <a:noFill/>
          <a:ln/>
        </p:spPr>
        <p:txBody>
          <a:bodyPr wrap="square" lIns="0" tIns="0" rIns="0" bIns="0" rtlCol="0" anchor="ctr"/>
          <a:lstStyle/>
          <a:p>
            <a:pPr indent="0" marL="0">
              <a:buNone/>
            </a:pPr>
            <a:r>
              <a:rPr lang="en-US" sz="1600" b="1" dirty="0">
                <a:solidFill>
                  <a:srgbClr val="9A6B08"/>
                </a:solidFill>
                <a:latin typeface="Calibri" pitchFamily="34" charset="0"/>
                <a:ea typeface="Calibri" pitchFamily="34" charset="-122"/>
                <a:cs typeface="Calibri" pitchFamily="34" charset="-120"/>
              </a:rPr>
              <a:t>Free</a:t>
            </a:r>
            <a:endParaRPr lang="en-US" sz="1600" dirty="0"/>
          </a:p>
        </p:txBody>
      </p:sp>
      <p:sp>
        <p:nvSpPr>
          <p:cNvPr id="7" name="Text 5"/>
          <p:cNvSpPr txBox="1"/>
          <p:nvPr/>
        </p:nvSpPr>
        <p:spPr>
          <a:xfrm>
            <a:off x="822960" y="3200400"/>
            <a:ext cx="3017520" cy="502920"/>
          </a:xfrm>
          <a:prstGeom prst="rect">
            <a:avLst/>
          </a:prstGeom>
          <a:noFill/>
          <a:ln/>
        </p:spPr>
        <p:txBody>
          <a:bodyPr wrap="square" lIns="0" tIns="0" rIns="0" bIns="0" rtlCol="0" anchor="t"/>
          <a:lstStyle/>
          <a:p>
            <a:pPr indent="0" marL="0">
              <a:buNone/>
            </a:pPr>
            <a:r>
              <a:rPr lang="en-US" sz="1400" dirty="0">
                <a:solidFill>
                  <a:srgbClr val="5A606B"/>
                </a:solidFill>
                <a:latin typeface="Calibri" pitchFamily="34" charset="0"/>
                <a:ea typeface="Calibri" pitchFamily="34" charset="-122"/>
                <a:cs typeface="Calibri" pitchFamily="34" charset="-120"/>
              </a:rPr>
              <a:t>No subscription, no trial, no card.</a:t>
            </a:r>
            <a:endParaRPr lang="en-US" sz="1400" dirty="0"/>
          </a:p>
        </p:txBody>
      </p:sp>
      <p:sp>
        <p:nvSpPr>
          <p:cNvPr id="8" name="Shape 6"/>
          <p:cNvSpPr/>
          <p:nvPr/>
        </p:nvSpPr>
        <p:spPr>
          <a:xfrm>
            <a:off x="4297680" y="2057400"/>
            <a:ext cx="3520440" cy="1691640"/>
          </a:xfrm>
          <a:prstGeom prst="roundRect">
            <a:avLst>
              <a:gd name="adj" fmla="val 8108"/>
            </a:avLst>
          </a:prstGeom>
          <a:solidFill>
            <a:srgbClr val="F3F4F6"/>
          </a:solidFill>
          <a:ln w="12700">
            <a:solidFill>
              <a:srgbClr val="E3E5E8"/>
            </a:solidFill>
            <a:prstDash val="solid"/>
          </a:ln>
        </p:spPr>
      </p:sp>
      <p:sp>
        <p:nvSpPr>
          <p:cNvPr id="9" name="Text 7"/>
          <p:cNvSpPr txBox="1"/>
          <p:nvPr/>
        </p:nvSpPr>
        <p:spPr>
          <a:xfrm>
            <a:off x="4572000" y="2240280"/>
            <a:ext cx="3017520" cy="640080"/>
          </a:xfrm>
          <a:prstGeom prst="rect">
            <a:avLst/>
          </a:prstGeom>
          <a:noFill/>
          <a:ln/>
        </p:spPr>
        <p:txBody>
          <a:bodyPr wrap="square" lIns="0" tIns="0" rIns="0" bIns="0" rtlCol="0" anchor="ctr"/>
          <a:lstStyle/>
          <a:p>
            <a:pPr indent="0" marL="0">
              <a:buNone/>
            </a:pPr>
            <a:r>
              <a:rPr lang="en-US" sz="3200" b="1" dirty="0">
                <a:solidFill>
                  <a:srgbClr val="14161B"/>
                </a:solidFill>
                <a:latin typeface="Calibri" pitchFamily="34" charset="0"/>
                <a:ea typeface="Calibri" pitchFamily="34" charset="-122"/>
                <a:cs typeface="Calibri" pitchFamily="34" charset="-120"/>
              </a:rPr>
              <a:t>0 MB</a:t>
            </a:r>
            <a:endParaRPr lang="en-US" sz="3200" dirty="0"/>
          </a:p>
        </p:txBody>
      </p:sp>
      <p:sp>
        <p:nvSpPr>
          <p:cNvPr id="10" name="Text 8"/>
          <p:cNvSpPr txBox="1"/>
          <p:nvPr/>
        </p:nvSpPr>
        <p:spPr>
          <a:xfrm>
            <a:off x="4572000" y="2880360"/>
            <a:ext cx="3017520" cy="320040"/>
          </a:xfrm>
          <a:prstGeom prst="rect">
            <a:avLst/>
          </a:prstGeom>
          <a:noFill/>
          <a:ln/>
        </p:spPr>
        <p:txBody>
          <a:bodyPr wrap="square" lIns="0" tIns="0" rIns="0" bIns="0" rtlCol="0" anchor="ctr"/>
          <a:lstStyle/>
          <a:p>
            <a:pPr indent="0" marL="0">
              <a:buNone/>
            </a:pPr>
            <a:r>
              <a:rPr lang="en-US" sz="1600" b="1" dirty="0">
                <a:solidFill>
                  <a:srgbClr val="9A6B08"/>
                </a:solidFill>
                <a:latin typeface="Calibri" pitchFamily="34" charset="0"/>
                <a:ea typeface="Calibri" pitchFamily="34" charset="-122"/>
                <a:cs typeface="Calibri" pitchFamily="34" charset="-120"/>
              </a:rPr>
              <a:t>No download</a:t>
            </a:r>
            <a:endParaRPr lang="en-US" sz="1600" dirty="0"/>
          </a:p>
        </p:txBody>
      </p:sp>
      <p:sp>
        <p:nvSpPr>
          <p:cNvPr id="11" name="Text 9"/>
          <p:cNvSpPr txBox="1"/>
          <p:nvPr/>
        </p:nvSpPr>
        <p:spPr>
          <a:xfrm>
            <a:off x="4572000" y="3200400"/>
            <a:ext cx="3017520" cy="502920"/>
          </a:xfrm>
          <a:prstGeom prst="rect">
            <a:avLst/>
          </a:prstGeom>
          <a:noFill/>
          <a:ln/>
        </p:spPr>
        <p:txBody>
          <a:bodyPr wrap="square" lIns="0" tIns="0" rIns="0" bIns="0" rtlCol="0" anchor="t"/>
          <a:lstStyle/>
          <a:p>
            <a:pPr indent="0" marL="0">
              <a:buNone/>
            </a:pPr>
            <a:r>
              <a:rPr lang="en-US" sz="1400" dirty="0">
                <a:solidFill>
                  <a:srgbClr val="5A606B"/>
                </a:solidFill>
                <a:latin typeface="Calibri" pitchFamily="34" charset="0"/>
                <a:ea typeface="Calibri" pitchFamily="34" charset="-122"/>
                <a:cs typeface="Calibri" pitchFamily="34" charset="-120"/>
              </a:rPr>
              <a:t>Opens in any browser on any device.</a:t>
            </a:r>
            <a:endParaRPr lang="en-US" sz="1400" dirty="0"/>
          </a:p>
        </p:txBody>
      </p:sp>
      <p:sp>
        <p:nvSpPr>
          <p:cNvPr id="12" name="Shape 10"/>
          <p:cNvSpPr/>
          <p:nvPr/>
        </p:nvSpPr>
        <p:spPr>
          <a:xfrm>
            <a:off x="8046720" y="2057400"/>
            <a:ext cx="3520440" cy="1691640"/>
          </a:xfrm>
          <a:prstGeom prst="roundRect">
            <a:avLst>
              <a:gd name="adj" fmla="val 8108"/>
            </a:avLst>
          </a:prstGeom>
          <a:solidFill>
            <a:srgbClr val="F3F4F6"/>
          </a:solidFill>
          <a:ln w="12700">
            <a:solidFill>
              <a:srgbClr val="E3E5E8"/>
            </a:solidFill>
            <a:prstDash val="solid"/>
          </a:ln>
        </p:spPr>
      </p:sp>
      <p:sp>
        <p:nvSpPr>
          <p:cNvPr id="13" name="Text 11"/>
          <p:cNvSpPr txBox="1"/>
          <p:nvPr/>
        </p:nvSpPr>
        <p:spPr>
          <a:xfrm>
            <a:off x="8321040" y="2240280"/>
            <a:ext cx="3017520" cy="640080"/>
          </a:xfrm>
          <a:prstGeom prst="rect">
            <a:avLst/>
          </a:prstGeom>
          <a:noFill/>
          <a:ln/>
        </p:spPr>
        <p:txBody>
          <a:bodyPr wrap="square" lIns="0" tIns="0" rIns="0" bIns="0" rtlCol="0" anchor="ctr"/>
          <a:lstStyle/>
          <a:p>
            <a:pPr indent="0" marL="0">
              <a:buNone/>
            </a:pPr>
            <a:r>
              <a:rPr lang="en-US" sz="3200" b="1" dirty="0">
                <a:solidFill>
                  <a:srgbClr val="14161B"/>
                </a:solidFill>
                <a:latin typeface="Calibri" pitchFamily="34" charset="0"/>
                <a:ea typeface="Calibri" pitchFamily="34" charset="-122"/>
                <a:cs typeface="Calibri" pitchFamily="34" charset="-120"/>
              </a:rPr>
              <a:t>10 sec</a:t>
            </a:r>
            <a:endParaRPr lang="en-US" sz="3200" dirty="0"/>
          </a:p>
        </p:txBody>
      </p:sp>
      <p:sp>
        <p:nvSpPr>
          <p:cNvPr id="14" name="Text 12"/>
          <p:cNvSpPr txBox="1"/>
          <p:nvPr/>
        </p:nvSpPr>
        <p:spPr>
          <a:xfrm>
            <a:off x="8321040" y="2880360"/>
            <a:ext cx="3017520" cy="320040"/>
          </a:xfrm>
          <a:prstGeom prst="rect">
            <a:avLst/>
          </a:prstGeom>
          <a:noFill/>
          <a:ln/>
        </p:spPr>
        <p:txBody>
          <a:bodyPr wrap="square" lIns="0" tIns="0" rIns="0" bIns="0" rtlCol="0" anchor="ctr"/>
          <a:lstStyle/>
          <a:p>
            <a:pPr indent="0" marL="0">
              <a:buNone/>
            </a:pPr>
            <a:r>
              <a:rPr lang="en-US" sz="1600" b="1" dirty="0">
                <a:solidFill>
                  <a:srgbClr val="9A6B08"/>
                </a:solidFill>
                <a:latin typeface="Calibri" pitchFamily="34" charset="0"/>
                <a:ea typeface="Calibri" pitchFamily="34" charset="-122"/>
                <a:cs typeface="Calibri" pitchFamily="34" charset="-120"/>
              </a:rPr>
              <a:t>On your phone</a:t>
            </a:r>
            <a:endParaRPr lang="en-US" sz="1600" dirty="0"/>
          </a:p>
        </p:txBody>
      </p:sp>
      <p:sp>
        <p:nvSpPr>
          <p:cNvPr id="15" name="Text 13"/>
          <p:cNvSpPr txBox="1"/>
          <p:nvPr/>
        </p:nvSpPr>
        <p:spPr>
          <a:xfrm>
            <a:off x="8321040" y="3200400"/>
            <a:ext cx="3017520" cy="502920"/>
          </a:xfrm>
          <a:prstGeom prst="rect">
            <a:avLst/>
          </a:prstGeom>
          <a:noFill/>
          <a:ln/>
        </p:spPr>
        <p:txBody>
          <a:bodyPr wrap="square" lIns="0" tIns="0" rIns="0" bIns="0" rtlCol="0" anchor="t"/>
          <a:lstStyle/>
          <a:p>
            <a:pPr indent="0" marL="0">
              <a:buNone/>
            </a:pPr>
            <a:r>
              <a:rPr lang="en-US" sz="1400" dirty="0">
                <a:solidFill>
                  <a:srgbClr val="5A606B"/>
                </a:solidFill>
                <a:latin typeface="Calibri" pitchFamily="34" charset="0"/>
                <a:ea typeface="Calibri" pitchFamily="34" charset="-122"/>
                <a:cs typeface="Calibri" pitchFamily="34" charset="-120"/>
              </a:rPr>
              <a:t>Add it to your home screen like an app.</a:t>
            </a:r>
            <a:endParaRPr lang="en-US" sz="1400" dirty="0"/>
          </a:p>
        </p:txBody>
      </p:sp>
      <p:sp>
        <p:nvSpPr>
          <p:cNvPr id="16" name="Shape 14"/>
          <p:cNvSpPr/>
          <p:nvPr/>
        </p:nvSpPr>
        <p:spPr>
          <a:xfrm>
            <a:off x="548640" y="3977640"/>
            <a:ext cx="3520440" cy="1691640"/>
          </a:xfrm>
          <a:prstGeom prst="roundRect">
            <a:avLst>
              <a:gd name="adj" fmla="val 8108"/>
            </a:avLst>
          </a:prstGeom>
          <a:solidFill>
            <a:srgbClr val="F3F4F6"/>
          </a:solidFill>
          <a:ln w="12700">
            <a:solidFill>
              <a:srgbClr val="E3E5E8"/>
            </a:solidFill>
            <a:prstDash val="solid"/>
          </a:ln>
        </p:spPr>
      </p:sp>
      <p:sp>
        <p:nvSpPr>
          <p:cNvPr id="17" name="Text 15"/>
          <p:cNvSpPr txBox="1"/>
          <p:nvPr/>
        </p:nvSpPr>
        <p:spPr>
          <a:xfrm>
            <a:off x="822960" y="4160520"/>
            <a:ext cx="3017520" cy="640080"/>
          </a:xfrm>
          <a:prstGeom prst="rect">
            <a:avLst/>
          </a:prstGeom>
          <a:noFill/>
          <a:ln/>
        </p:spPr>
        <p:txBody>
          <a:bodyPr wrap="square" lIns="0" tIns="0" rIns="0" bIns="0" rtlCol="0" anchor="ctr"/>
          <a:lstStyle/>
          <a:p>
            <a:pPr indent="0" marL="0">
              <a:buNone/>
            </a:pPr>
            <a:r>
              <a:rPr lang="en-US" sz="3200" b="1" dirty="0">
                <a:solidFill>
                  <a:srgbClr val="14161B"/>
                </a:solidFill>
                <a:latin typeface="Calibri" pitchFamily="34" charset="0"/>
                <a:ea typeface="Calibri" pitchFamily="34" charset="-122"/>
                <a:cs typeface="Calibri" pitchFamily="34" charset="-120"/>
              </a:rPr>
              <a:t>Offline</a:t>
            </a:r>
            <a:endParaRPr lang="en-US" sz="3200" dirty="0"/>
          </a:p>
        </p:txBody>
      </p:sp>
      <p:sp>
        <p:nvSpPr>
          <p:cNvPr id="18" name="Text 16"/>
          <p:cNvSpPr txBox="1"/>
          <p:nvPr/>
        </p:nvSpPr>
        <p:spPr>
          <a:xfrm>
            <a:off x="822960" y="4800600"/>
            <a:ext cx="3017520" cy="320040"/>
          </a:xfrm>
          <a:prstGeom prst="rect">
            <a:avLst/>
          </a:prstGeom>
          <a:noFill/>
          <a:ln/>
        </p:spPr>
        <p:txBody>
          <a:bodyPr wrap="square" lIns="0" tIns="0" rIns="0" bIns="0" rtlCol="0" anchor="ctr"/>
          <a:lstStyle/>
          <a:p>
            <a:pPr indent="0" marL="0">
              <a:buNone/>
            </a:pPr>
            <a:r>
              <a:rPr lang="en-US" sz="1600" b="1" dirty="0">
                <a:solidFill>
                  <a:srgbClr val="9A6B08"/>
                </a:solidFill>
                <a:latin typeface="Calibri" pitchFamily="34" charset="0"/>
                <a:ea typeface="Calibri" pitchFamily="34" charset="-122"/>
                <a:cs typeface="Calibri" pitchFamily="34" charset="-120"/>
              </a:rPr>
              <a:t>Study anywhere</a:t>
            </a:r>
            <a:endParaRPr lang="en-US" sz="1600" dirty="0"/>
          </a:p>
        </p:txBody>
      </p:sp>
      <p:sp>
        <p:nvSpPr>
          <p:cNvPr id="19" name="Text 17"/>
          <p:cNvSpPr txBox="1"/>
          <p:nvPr/>
        </p:nvSpPr>
        <p:spPr>
          <a:xfrm>
            <a:off x="822960" y="5120640"/>
            <a:ext cx="3017520" cy="502920"/>
          </a:xfrm>
          <a:prstGeom prst="rect">
            <a:avLst/>
          </a:prstGeom>
          <a:noFill/>
          <a:ln/>
        </p:spPr>
        <p:txBody>
          <a:bodyPr wrap="square" lIns="0" tIns="0" rIns="0" bIns="0" rtlCol="0" anchor="t"/>
          <a:lstStyle/>
          <a:p>
            <a:pPr indent="0" marL="0">
              <a:buNone/>
            </a:pPr>
            <a:r>
              <a:rPr lang="en-US" sz="1400" dirty="0">
                <a:solidFill>
                  <a:srgbClr val="5A606B"/>
                </a:solidFill>
                <a:latin typeface="Calibri" pitchFamily="34" charset="0"/>
                <a:ea typeface="Calibri" pitchFamily="34" charset="-122"/>
                <a:cs typeface="Calibri" pitchFamily="34" charset="-120"/>
              </a:rPr>
              <a:t>UNI Made EZ, Read Fast and Vamos keep working without Wi-Fi.</a:t>
            </a:r>
            <a:endParaRPr lang="en-US" sz="1400" dirty="0"/>
          </a:p>
        </p:txBody>
      </p:sp>
      <p:sp>
        <p:nvSpPr>
          <p:cNvPr id="20" name="Shape 18"/>
          <p:cNvSpPr/>
          <p:nvPr/>
        </p:nvSpPr>
        <p:spPr>
          <a:xfrm>
            <a:off x="4297680" y="3977640"/>
            <a:ext cx="3520440" cy="1691640"/>
          </a:xfrm>
          <a:prstGeom prst="roundRect">
            <a:avLst>
              <a:gd name="adj" fmla="val 8108"/>
            </a:avLst>
          </a:prstGeom>
          <a:solidFill>
            <a:srgbClr val="F3F4F6"/>
          </a:solidFill>
          <a:ln w="12700">
            <a:solidFill>
              <a:srgbClr val="E3E5E8"/>
            </a:solidFill>
            <a:prstDash val="solid"/>
          </a:ln>
        </p:spPr>
      </p:sp>
      <p:sp>
        <p:nvSpPr>
          <p:cNvPr id="21" name="Text 19"/>
          <p:cNvSpPr txBox="1"/>
          <p:nvPr/>
        </p:nvSpPr>
        <p:spPr>
          <a:xfrm>
            <a:off x="4572000" y="4160520"/>
            <a:ext cx="3017520" cy="640080"/>
          </a:xfrm>
          <a:prstGeom prst="rect">
            <a:avLst/>
          </a:prstGeom>
          <a:noFill/>
          <a:ln/>
        </p:spPr>
        <p:txBody>
          <a:bodyPr wrap="square" lIns="0" tIns="0" rIns="0" bIns="0" rtlCol="0" anchor="ctr"/>
          <a:lstStyle/>
          <a:p>
            <a:pPr indent="0" marL="0">
              <a:buNone/>
            </a:pPr>
            <a:r>
              <a:rPr lang="en-US" sz="3200" b="1" dirty="0">
                <a:solidFill>
                  <a:srgbClr val="14161B"/>
                </a:solidFill>
                <a:latin typeface="Calibri" pitchFamily="34" charset="0"/>
                <a:ea typeface="Calibri" pitchFamily="34" charset="-122"/>
                <a:cs typeface="Calibri" pitchFamily="34" charset="-120"/>
              </a:rPr>
              <a:t>No ads</a:t>
            </a:r>
            <a:endParaRPr lang="en-US" sz="3200" dirty="0"/>
          </a:p>
        </p:txBody>
      </p:sp>
      <p:sp>
        <p:nvSpPr>
          <p:cNvPr id="22" name="Text 20"/>
          <p:cNvSpPr txBox="1"/>
          <p:nvPr/>
        </p:nvSpPr>
        <p:spPr>
          <a:xfrm>
            <a:off x="4572000" y="4800600"/>
            <a:ext cx="3017520" cy="320040"/>
          </a:xfrm>
          <a:prstGeom prst="rect">
            <a:avLst/>
          </a:prstGeom>
          <a:noFill/>
          <a:ln/>
        </p:spPr>
        <p:txBody>
          <a:bodyPr wrap="square" lIns="0" tIns="0" rIns="0" bIns="0" rtlCol="0" anchor="ctr"/>
          <a:lstStyle/>
          <a:p>
            <a:pPr indent="0" marL="0">
              <a:buNone/>
            </a:pPr>
            <a:r>
              <a:rPr lang="en-US" sz="1600" b="1" dirty="0">
                <a:solidFill>
                  <a:srgbClr val="9A6B08"/>
                </a:solidFill>
                <a:latin typeface="Calibri" pitchFamily="34" charset="0"/>
                <a:ea typeface="Calibri" pitchFamily="34" charset="-122"/>
                <a:cs typeface="Calibri" pitchFamily="34" charset="-120"/>
              </a:rPr>
              <a:t>No distractions</a:t>
            </a:r>
            <a:endParaRPr lang="en-US" sz="1600" dirty="0"/>
          </a:p>
        </p:txBody>
      </p:sp>
      <p:sp>
        <p:nvSpPr>
          <p:cNvPr id="23" name="Text 21"/>
          <p:cNvSpPr txBox="1"/>
          <p:nvPr/>
        </p:nvSpPr>
        <p:spPr>
          <a:xfrm>
            <a:off x="4572000" y="5120640"/>
            <a:ext cx="3017520" cy="502920"/>
          </a:xfrm>
          <a:prstGeom prst="rect">
            <a:avLst/>
          </a:prstGeom>
          <a:noFill/>
          <a:ln/>
        </p:spPr>
        <p:txBody>
          <a:bodyPr wrap="square" lIns="0" tIns="0" rIns="0" bIns="0" rtlCol="0" anchor="t"/>
          <a:lstStyle/>
          <a:p>
            <a:pPr indent="0" marL="0">
              <a:buNone/>
            </a:pPr>
            <a:r>
              <a:rPr lang="en-US" sz="1400" dirty="0">
                <a:solidFill>
                  <a:srgbClr val="5A606B"/>
                </a:solidFill>
                <a:latin typeface="Calibri" pitchFamily="34" charset="0"/>
                <a:ea typeface="Calibri" pitchFamily="34" charset="-122"/>
                <a:cs typeface="Calibri" pitchFamily="34" charset="-120"/>
              </a:rPr>
              <a:t>Nothing popping up while you study.</a:t>
            </a:r>
            <a:endParaRPr lang="en-US" sz="1400" dirty="0"/>
          </a:p>
        </p:txBody>
      </p:sp>
      <p:sp>
        <p:nvSpPr>
          <p:cNvPr id="24" name="Shape 22"/>
          <p:cNvSpPr/>
          <p:nvPr/>
        </p:nvSpPr>
        <p:spPr>
          <a:xfrm>
            <a:off x="8046720" y="3977640"/>
            <a:ext cx="3520440" cy="1691640"/>
          </a:xfrm>
          <a:prstGeom prst="roundRect">
            <a:avLst>
              <a:gd name="adj" fmla="val 8108"/>
            </a:avLst>
          </a:prstGeom>
          <a:solidFill>
            <a:srgbClr val="F3F4F6"/>
          </a:solidFill>
          <a:ln w="12700">
            <a:solidFill>
              <a:srgbClr val="E3E5E8"/>
            </a:solidFill>
            <a:prstDash val="solid"/>
          </a:ln>
        </p:spPr>
      </p:sp>
      <p:sp>
        <p:nvSpPr>
          <p:cNvPr id="25" name="Text 23"/>
          <p:cNvSpPr txBox="1"/>
          <p:nvPr/>
        </p:nvSpPr>
        <p:spPr>
          <a:xfrm>
            <a:off x="8321040" y="4160520"/>
            <a:ext cx="3017520" cy="640080"/>
          </a:xfrm>
          <a:prstGeom prst="rect">
            <a:avLst/>
          </a:prstGeom>
          <a:noFill/>
          <a:ln/>
        </p:spPr>
        <p:txBody>
          <a:bodyPr wrap="square" lIns="0" tIns="0" rIns="0" bIns="0" rtlCol="0" anchor="ctr"/>
          <a:lstStyle/>
          <a:p>
            <a:pPr indent="0" marL="0">
              <a:buNone/>
            </a:pPr>
            <a:r>
              <a:rPr lang="en-US" sz="3200" b="1" dirty="0">
                <a:solidFill>
                  <a:srgbClr val="14161B"/>
                </a:solidFill>
                <a:latin typeface="Calibri" pitchFamily="34" charset="0"/>
                <a:ea typeface="Calibri" pitchFamily="34" charset="-122"/>
                <a:cs typeface="Calibri" pitchFamily="34" charset="-120"/>
              </a:rPr>
              <a:t>Always new</a:t>
            </a:r>
            <a:endParaRPr lang="en-US" sz="3200" dirty="0"/>
          </a:p>
        </p:txBody>
      </p:sp>
      <p:sp>
        <p:nvSpPr>
          <p:cNvPr id="26" name="Text 24"/>
          <p:cNvSpPr txBox="1"/>
          <p:nvPr/>
        </p:nvSpPr>
        <p:spPr>
          <a:xfrm>
            <a:off x="8321040" y="4800600"/>
            <a:ext cx="3017520" cy="320040"/>
          </a:xfrm>
          <a:prstGeom prst="rect">
            <a:avLst/>
          </a:prstGeom>
          <a:noFill/>
          <a:ln/>
        </p:spPr>
        <p:txBody>
          <a:bodyPr wrap="square" lIns="0" tIns="0" rIns="0" bIns="0" rtlCol="0" anchor="ctr"/>
          <a:lstStyle/>
          <a:p>
            <a:pPr indent="0" marL="0">
              <a:buNone/>
            </a:pPr>
            <a:r>
              <a:rPr lang="en-US" sz="1600" b="1" dirty="0">
                <a:solidFill>
                  <a:srgbClr val="9A6B08"/>
                </a:solidFill>
                <a:latin typeface="Calibri" pitchFamily="34" charset="0"/>
                <a:ea typeface="Calibri" pitchFamily="34" charset="-122"/>
                <a:cs typeface="Calibri" pitchFamily="34" charset="-120"/>
              </a:rPr>
              <a:t>Updated all the time</a:t>
            </a:r>
            <a:endParaRPr lang="en-US" sz="1600" dirty="0"/>
          </a:p>
        </p:txBody>
      </p:sp>
      <p:sp>
        <p:nvSpPr>
          <p:cNvPr id="27" name="Text 25"/>
          <p:cNvSpPr txBox="1"/>
          <p:nvPr/>
        </p:nvSpPr>
        <p:spPr>
          <a:xfrm>
            <a:off x="8321040" y="5120640"/>
            <a:ext cx="3017520" cy="502920"/>
          </a:xfrm>
          <a:prstGeom prst="rect">
            <a:avLst/>
          </a:prstGeom>
          <a:noFill/>
          <a:ln/>
        </p:spPr>
        <p:txBody>
          <a:bodyPr wrap="square" lIns="0" tIns="0" rIns="0" bIns="0" rtlCol="0" anchor="t"/>
          <a:lstStyle/>
          <a:p>
            <a:pPr indent="0" marL="0">
              <a:buNone/>
            </a:pPr>
            <a:r>
              <a:rPr lang="en-US" sz="1400" dirty="0">
                <a:solidFill>
                  <a:srgbClr val="5A606B"/>
                </a:solidFill>
                <a:latin typeface="Calibri" pitchFamily="34" charset="0"/>
                <a:ea typeface="Calibri" pitchFamily="34" charset="-122"/>
                <a:cs typeface="Calibri" pitchFamily="34" charset="-120"/>
              </a:rPr>
              <a:t>New features land without an update to install.</a:t>
            </a:r>
            <a:endParaRPr lang="en-US" sz="1400" dirty="0"/>
          </a:p>
        </p:txBody>
      </p:sp>
      <p:sp>
        <p:nvSpPr>
          <p:cNvPr id="28" name="Text 26"/>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rgbClr val="5A606B"/>
                </a:solidFill>
                <a:latin typeface="Calibri" pitchFamily="34" charset="0"/>
                <a:ea typeface="Calibri" pitchFamily="34" charset="-122"/>
                <a:cs typeface="Calibri" pitchFamily="34" charset="-120"/>
              </a:rPr>
              <a:t>thepastor.github.io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9A6B08"/>
                </a:solidFill>
                <a:latin typeface="Courier New" pitchFamily="34" charset="0"/>
                <a:ea typeface="Courier New" pitchFamily="34" charset="-122"/>
                <a:cs typeface="Courier New" pitchFamily="34" charset="-120"/>
              </a:rPr>
              <a:t>[ PRIVACY ]</a:t>
            </a:r>
            <a:endParaRPr lang="en-US" sz="1300" dirty="0"/>
          </a:p>
        </p:txBody>
      </p:sp>
      <p:sp>
        <p:nvSpPr>
          <p:cNvPr id="3" name="Text 1"/>
          <p:cNvSpPr txBox="1"/>
          <p:nvPr/>
        </p:nvSpPr>
        <p:spPr>
          <a:xfrm>
            <a:off x="548640" y="822960"/>
            <a:ext cx="10972800" cy="1188720"/>
          </a:xfrm>
          <a:prstGeom prst="rect">
            <a:avLst/>
          </a:prstGeom>
          <a:noFill/>
          <a:ln/>
        </p:spPr>
        <p:txBody>
          <a:bodyPr wrap="square" lIns="0" tIns="0" rIns="0" bIns="0" rtlCol="0" anchor="t"/>
          <a:lstStyle/>
          <a:p>
            <a:pPr indent="0" marL="0">
              <a:buNone/>
            </a:pPr>
            <a:r>
              <a:rPr lang="en-US" sz="4000" b="1" dirty="0">
                <a:solidFill>
                  <a:srgbClr val="14161B"/>
                </a:solidFill>
                <a:latin typeface="Calibri" pitchFamily="34" charset="0"/>
                <a:ea typeface="Calibri" pitchFamily="34" charset="-122"/>
                <a:cs typeface="Calibri" pitchFamily="34" charset="-120"/>
              </a:rPr>
              <a:t>Your stuff stays yours</a:t>
            </a:r>
            <a:endParaRPr lang="en-US" sz="4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011680"/>
                <a:gridCol w="3840480"/>
                <a:gridCol w="52120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App</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0D0F1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Stays on your device</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0D0F1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leaves your device</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0D0F13"/>
                    </a:solidFill>
                  </a:tcPr>
                </a:tc>
              </a:tr>
              <a:tr h="566928">
                <a:tc>
                  <a:txBody>
                    <a:bodyPr/>
                    <a:lstStyle/>
                    <a:p>
                      <a:pPr indent="0" marL="0">
                        <a:buNone/>
                      </a:pPr>
                      <a:r>
                        <a:rPr lang="en-US" sz="1400" b="1" dirty="0">
                          <a:solidFill>
                            <a:srgbClr val="14161B"/>
                          </a:solidFill>
                          <a:latin typeface="Calibri" pitchFamily="34" charset="0"/>
                          <a:ea typeface="Calibri" pitchFamily="34" charset="-122"/>
                          <a:cs typeface="Calibri" pitchFamily="34" charset="-120"/>
                        </a:rPr>
                        <a:t>Read Fast</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en-US" sz="1400" dirty="0">
                          <a:solidFill>
                            <a:srgbClr val="14161B"/>
                          </a:solidFill>
                          <a:latin typeface="Calibri" pitchFamily="34" charset="0"/>
                          <a:ea typeface="Calibri" pitchFamily="34" charset="-122"/>
                          <a:cs typeface="Calibri" pitchFamily="34" charset="-120"/>
                        </a:rPr>
                        <a:t>Your books, your place in them, your stats</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en-US" sz="1400" dirty="0">
                          <a:solidFill>
                            <a:srgbClr val="14161B"/>
                          </a:solidFill>
                          <a:latin typeface="Calibri" pitchFamily="34" charset="0"/>
                          <a:ea typeface="Calibri" pitchFamily="34" charset="-122"/>
                          <a:cs typeface="Calibri" pitchFamily="34" charset="-120"/>
                        </a:rPr>
                        <a:t>Nothing</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4161B"/>
                          </a:solidFill>
                          <a:latin typeface="Calibri" pitchFamily="34" charset="0"/>
                          <a:ea typeface="Calibri" pitchFamily="34" charset="-122"/>
                          <a:cs typeface="Calibri" pitchFamily="34" charset="-120"/>
                        </a:rPr>
                        <a:t>UNI Made EZ</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3F4F6"/>
                    </a:solidFill>
                  </a:tcPr>
                </a:tc>
                <a:tc>
                  <a:txBody>
                    <a:bodyPr/>
                    <a:lstStyle/>
                    <a:p>
                      <a:pPr indent="0" marL="0">
                        <a:buNone/>
                      </a:pPr>
                      <a:r>
                        <a:rPr lang="en-US" sz="1400" dirty="0">
                          <a:solidFill>
                            <a:srgbClr val="14161B"/>
                          </a:solidFill>
                          <a:latin typeface="Calibri" pitchFamily="34" charset="0"/>
                          <a:ea typeface="Calibri" pitchFamily="34" charset="-122"/>
                          <a:cs typeface="Calibri" pitchFamily="34" charset="-120"/>
                        </a:rPr>
                        <a:t>Your files, cards, summaries and quizzes</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3F4F6"/>
                    </a:solidFill>
                  </a:tcPr>
                </a:tc>
                <a:tc>
                  <a:txBody>
                    <a:bodyPr/>
                    <a:lstStyle/>
                    <a:p>
                      <a:pPr indent="0" marL="0">
                        <a:buNone/>
                      </a:pPr>
                      <a:r>
                        <a:rPr lang="en-US" sz="1400" dirty="0">
                          <a:solidFill>
                            <a:srgbClr val="14161B"/>
                          </a:solidFill>
                          <a:latin typeface="Calibri" pitchFamily="34" charset="0"/>
                          <a:ea typeface="Calibri" pitchFamily="34" charset="-122"/>
                          <a:cs typeface="Calibri" pitchFamily="34" charset="-120"/>
                        </a:rPr>
                        <a:t>Only your name and email, if you choose to sign up</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3F4F6"/>
                    </a:solidFill>
                  </a:tcPr>
                </a:tc>
              </a:tr>
              <a:tr h="822960">
                <a:tc>
                  <a:txBody>
                    <a:bodyPr/>
                    <a:lstStyle/>
                    <a:p>
                      <a:pPr indent="0" marL="0">
                        <a:buNone/>
                      </a:pPr>
                      <a:r>
                        <a:rPr lang="en-US" sz="1400" b="1" dirty="0">
                          <a:solidFill>
                            <a:srgbClr val="14161B"/>
                          </a:solidFill>
                          <a:latin typeface="Calibri" pitchFamily="34" charset="0"/>
                          <a:ea typeface="Calibri" pitchFamily="34" charset="-122"/>
                          <a:cs typeface="Calibri" pitchFamily="34" charset="-120"/>
                        </a:rPr>
                        <a:t>Syllabus Desk</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en-US" sz="1400" dirty="0">
                          <a:solidFill>
                            <a:srgbClr val="14161B"/>
                          </a:solidFill>
                          <a:latin typeface="Calibri" pitchFamily="34" charset="0"/>
                          <a:ea typeface="Calibri" pitchFamily="34" charset="-122"/>
                          <a:cs typeface="Calibri" pitchFamily="34" charset="-120"/>
                        </a:rPr>
                        <a:t>The file, your schedule, your edits</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en-US" sz="1400" dirty="0">
                          <a:solidFill>
                            <a:srgbClr val="14161B"/>
                          </a:solidFill>
                          <a:latin typeface="Calibri" pitchFamily="34" charset="0"/>
                          <a:ea typeface="Calibri" pitchFamily="34" charset="-122"/>
                          <a:cs typeface="Calibri" pitchFamily="34" charset="-120"/>
                        </a:rPr>
                        <a:t>The outline text is sent to Claude (AI) to find the dates. Optional accounts store your term in Canada.</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4161B"/>
                          </a:solidFill>
                          <a:latin typeface="Calibri" pitchFamily="34" charset="0"/>
                          <a:ea typeface="Calibri" pitchFamily="34" charset="-122"/>
                          <a:cs typeface="Calibri" pitchFamily="34" charset="-120"/>
                        </a:rPr>
                        <a:t>Vamos</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3F4F6"/>
                    </a:solidFill>
                  </a:tcPr>
                </a:tc>
                <a:tc>
                  <a:txBody>
                    <a:bodyPr/>
                    <a:lstStyle/>
                    <a:p>
                      <a:pPr indent="0" marL="0">
                        <a:buNone/>
                      </a:pPr>
                      <a:r>
                        <a:rPr lang="en-US" sz="1400" dirty="0">
                          <a:solidFill>
                            <a:srgbClr val="14161B"/>
                          </a:solidFill>
                          <a:latin typeface="Calibri" pitchFamily="34" charset="0"/>
                          <a:ea typeface="Calibri" pitchFamily="34" charset="-122"/>
                          <a:cs typeface="Calibri" pitchFamily="34" charset="-120"/>
                        </a:rPr>
                        <a:t>Everything while you try it out</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3F4F6"/>
                    </a:solidFill>
                  </a:tcPr>
                </a:tc>
                <a:tc>
                  <a:txBody>
                    <a:bodyPr/>
                    <a:lstStyle/>
                    <a:p>
                      <a:pPr indent="0" marL="0">
                        <a:buNone/>
                      </a:pPr>
                      <a:r>
                        <a:rPr lang="en-US" sz="1400" dirty="0">
                          <a:solidFill>
                            <a:srgbClr val="14161B"/>
                          </a:solidFill>
                          <a:latin typeface="Calibri" pitchFamily="34" charset="0"/>
                          <a:ea typeface="Calibri" pitchFamily="34" charset="-122"/>
                          <a:cs typeface="Calibri" pitchFamily="34" charset="-120"/>
                        </a:rPr>
                        <a:t>Your progress syncs to an account once you pass 100 XP, so it follows you between devices</a:t>
                      </a:r>
                      <a:endParaRPr lang="en-US" sz="1400" dirty="0">
                        <a:latin typeface="Calibri" charset="0"/>
                        <a:ea typeface="Calibri" charset="0"/>
                        <a:cs typeface="Calibri" charset="0"/>
                      </a:endParaRPr>
                    </a:p>
                  </a:txBody>
                  <a:tcPr marL="127000" marR="127000" marT="76200" marB="7620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3F4F6"/>
                    </a:solidFill>
                  </a:tcPr>
                </a:tc>
              </a:tr>
            </a:tbl>
          </a:graphicData>
        </a:graphic>
      </p:graphicFrame>
      <p:sp>
        <p:nvSpPr>
          <p:cNvPr id="5" name="Text 2"/>
          <p:cNvSpPr txBox="1"/>
          <p:nvPr/>
        </p:nvSpPr>
        <p:spPr>
          <a:xfrm>
            <a:off x="548640" y="5349240"/>
            <a:ext cx="11064240" cy="685800"/>
          </a:xfrm>
          <a:prstGeom prst="rect">
            <a:avLst/>
          </a:prstGeom>
          <a:noFill/>
          <a:ln/>
        </p:spPr>
        <p:txBody>
          <a:bodyPr wrap="square" lIns="0" tIns="0" rIns="0" bIns="0" rtlCol="0" anchor="t"/>
          <a:lstStyle/>
          <a:p>
            <a:pPr indent="0" marL="0">
              <a:buNone/>
            </a:pPr>
            <a:r>
              <a:rPr lang="en-US" sz="1400" i="1" dirty="0">
                <a:solidFill>
                  <a:srgbClr val="5A606B"/>
                </a:solidFill>
                <a:latin typeface="Calibri" pitchFamily="34" charset="0"/>
                <a:ea typeface="Calibri" pitchFamily="34" charset="-122"/>
                <a:cs typeface="Calibri" pitchFamily="34" charset="-120"/>
              </a:rPr>
              <a:t>No ads, no tracking for advertising, and nothing sold. Each app has a legal &amp; privacy page with the full details. These are independent projects by JohnsonXCorp, not a TRU service.</a:t>
            </a:r>
            <a:endParaRPr lang="en-US" sz="1400" dirty="0"/>
          </a:p>
        </p:txBody>
      </p:sp>
      <p:sp>
        <p:nvSpPr>
          <p:cNvPr id="6" name="Text 3"/>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rgbClr val="5A606B"/>
                </a:solidFill>
                <a:latin typeface="Calibri" pitchFamily="34" charset="0"/>
                <a:ea typeface="Calibri" pitchFamily="34" charset="-122"/>
                <a:cs typeface="Calibri" pitchFamily="34" charset="-120"/>
              </a:rPr>
              <a:t>thepastor.github.io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F6"/>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9A6B08"/>
                </a:solidFill>
                <a:latin typeface="Courier New" pitchFamily="34" charset="0"/>
                <a:ea typeface="Courier New" pitchFamily="34" charset="-122"/>
                <a:cs typeface="Courier New" pitchFamily="34" charset="-120"/>
              </a:rPr>
              <a:t>[ PUT IT ON YOUR PHONE ]</a:t>
            </a:r>
            <a:endParaRPr lang="en-US" sz="1300" dirty="0"/>
          </a:p>
        </p:txBody>
      </p:sp>
      <p:sp>
        <p:nvSpPr>
          <p:cNvPr id="3" name="Text 1"/>
          <p:cNvSpPr txBox="1"/>
          <p:nvPr/>
        </p:nvSpPr>
        <p:spPr>
          <a:xfrm>
            <a:off x="548640" y="822960"/>
            <a:ext cx="10972800" cy="1188720"/>
          </a:xfrm>
          <a:prstGeom prst="rect">
            <a:avLst/>
          </a:prstGeom>
          <a:noFill/>
          <a:ln/>
        </p:spPr>
        <p:txBody>
          <a:bodyPr wrap="square" lIns="0" tIns="0" rIns="0" bIns="0" rtlCol="0" anchor="t"/>
          <a:lstStyle/>
          <a:p>
            <a:pPr indent="0" marL="0">
              <a:buNone/>
            </a:pPr>
            <a:r>
              <a:rPr lang="en-US" sz="4000" b="1" dirty="0">
                <a:solidFill>
                  <a:srgbClr val="14161B"/>
                </a:solidFill>
                <a:latin typeface="Calibri" pitchFamily="34" charset="0"/>
                <a:ea typeface="Calibri" pitchFamily="34" charset="-122"/>
                <a:cs typeface="Calibri" pitchFamily="34" charset="-120"/>
              </a:rPr>
              <a:t>Make it an app in 10 seconds</a:t>
            </a:r>
            <a:endParaRPr lang="en-US" sz="4000" dirty="0"/>
          </a:p>
        </p:txBody>
      </p:sp>
      <p:sp>
        <p:nvSpPr>
          <p:cNvPr id="4" name="Shape 2"/>
          <p:cNvSpPr/>
          <p:nvPr/>
        </p:nvSpPr>
        <p:spPr>
          <a:xfrm>
            <a:off x="548640" y="2011680"/>
            <a:ext cx="5394960" cy="3566160"/>
          </a:xfrm>
          <a:prstGeom prst="roundRect">
            <a:avLst>
              <a:gd name="adj" fmla="val 4615"/>
            </a:avLst>
          </a:prstGeom>
          <a:solidFill>
            <a:srgbClr val="FFFFFF"/>
          </a:solidFill>
          <a:ln w="12700">
            <a:solidFill>
              <a:srgbClr val="E3E5E8"/>
            </a:solidFill>
            <a:prstDash val="solid"/>
          </a:ln>
        </p:spPr>
      </p:sp>
      <p:sp>
        <p:nvSpPr>
          <p:cNvPr id="5" name="Text 3"/>
          <p:cNvSpPr txBox="1"/>
          <p:nvPr/>
        </p:nvSpPr>
        <p:spPr>
          <a:xfrm>
            <a:off x="914400" y="2240280"/>
            <a:ext cx="4754880" cy="502920"/>
          </a:xfrm>
          <a:prstGeom prst="rect">
            <a:avLst/>
          </a:prstGeom>
          <a:noFill/>
          <a:ln/>
        </p:spPr>
        <p:txBody>
          <a:bodyPr wrap="square" lIns="0" tIns="0" rIns="0" bIns="0" rtlCol="0" anchor="ctr"/>
          <a:lstStyle/>
          <a:p>
            <a:pPr indent="0" marL="0">
              <a:buNone/>
            </a:pPr>
            <a:r>
              <a:rPr lang="en-US" sz="2400" b="1" dirty="0">
                <a:solidFill>
                  <a:srgbClr val="14161B"/>
                </a:solidFill>
                <a:latin typeface="Calibri" pitchFamily="34" charset="0"/>
                <a:ea typeface="Calibri" pitchFamily="34" charset="-122"/>
                <a:cs typeface="Calibri" pitchFamily="34" charset="-120"/>
              </a:rPr>
              <a:t>iPhone · Safari</a:t>
            </a:r>
            <a:endParaRPr lang="en-US" sz="2400" dirty="0"/>
          </a:p>
        </p:txBody>
      </p:sp>
      <p:sp>
        <p:nvSpPr>
          <p:cNvPr id="6" name="Shape 4"/>
          <p:cNvSpPr/>
          <p:nvPr/>
        </p:nvSpPr>
        <p:spPr>
          <a:xfrm>
            <a:off x="914400" y="2971800"/>
            <a:ext cx="457200" cy="457200"/>
          </a:xfrm>
          <a:prstGeom prst="ellipse">
            <a:avLst/>
          </a:prstGeom>
          <a:solidFill>
            <a:srgbClr val="14161B"/>
          </a:solidFill>
          <a:ln/>
        </p:spPr>
      </p:sp>
      <p:sp>
        <p:nvSpPr>
          <p:cNvPr id="7" name="Text 5"/>
          <p:cNvSpPr txBox="1"/>
          <p:nvPr/>
        </p:nvSpPr>
        <p:spPr>
          <a:xfrm>
            <a:off x="914400" y="2971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554480" y="2926080"/>
            <a:ext cx="4114800" cy="548640"/>
          </a:xfrm>
          <a:prstGeom prst="rect">
            <a:avLst/>
          </a:prstGeom>
          <a:noFill/>
          <a:ln/>
        </p:spPr>
        <p:txBody>
          <a:bodyPr wrap="square" lIns="0" tIns="0" rIns="0" bIns="0" rtlCol="0" anchor="ctr"/>
          <a:lstStyle/>
          <a:p>
            <a:pPr indent="0" marL="0">
              <a:buNone/>
            </a:pPr>
            <a:r>
              <a:rPr lang="en-US" sz="1600" dirty="0">
                <a:solidFill>
                  <a:srgbClr val="14161B"/>
                </a:solidFill>
                <a:latin typeface="Calibri" pitchFamily="34" charset="0"/>
                <a:ea typeface="Calibri" pitchFamily="34" charset="-122"/>
                <a:cs typeface="Calibri" pitchFamily="34" charset="-120"/>
              </a:rPr>
              <a:t>Open the app in Safari</a:t>
            </a:r>
            <a:endParaRPr lang="en-US" sz="1600" dirty="0"/>
          </a:p>
        </p:txBody>
      </p:sp>
      <p:sp>
        <p:nvSpPr>
          <p:cNvPr id="9" name="Shape 7"/>
          <p:cNvSpPr/>
          <p:nvPr/>
        </p:nvSpPr>
        <p:spPr>
          <a:xfrm>
            <a:off x="914400" y="3749040"/>
            <a:ext cx="457200" cy="457200"/>
          </a:xfrm>
          <a:prstGeom prst="ellipse">
            <a:avLst/>
          </a:prstGeom>
          <a:solidFill>
            <a:srgbClr val="14161B"/>
          </a:solidFill>
          <a:ln/>
        </p:spPr>
      </p:sp>
      <p:sp>
        <p:nvSpPr>
          <p:cNvPr id="10" name="Text 8"/>
          <p:cNvSpPr txBox="1"/>
          <p:nvPr/>
        </p:nvSpPr>
        <p:spPr>
          <a:xfrm>
            <a:off x="914400" y="3749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554480" y="3703320"/>
            <a:ext cx="4114800" cy="548640"/>
          </a:xfrm>
          <a:prstGeom prst="rect">
            <a:avLst/>
          </a:prstGeom>
          <a:noFill/>
          <a:ln/>
        </p:spPr>
        <p:txBody>
          <a:bodyPr wrap="square" lIns="0" tIns="0" rIns="0" bIns="0" rtlCol="0" anchor="ctr"/>
          <a:lstStyle/>
          <a:p>
            <a:pPr indent="0" marL="0">
              <a:buNone/>
            </a:pPr>
            <a:r>
              <a:rPr lang="en-US" sz="1600" dirty="0">
                <a:solidFill>
                  <a:srgbClr val="14161B"/>
                </a:solidFill>
                <a:latin typeface="Calibri" pitchFamily="34" charset="0"/>
                <a:ea typeface="Calibri" pitchFamily="34" charset="-122"/>
                <a:cs typeface="Calibri" pitchFamily="34" charset="-120"/>
              </a:rPr>
              <a:t>Tap the Share button</a:t>
            </a:r>
            <a:endParaRPr lang="en-US" sz="1600" dirty="0"/>
          </a:p>
        </p:txBody>
      </p:sp>
      <p:sp>
        <p:nvSpPr>
          <p:cNvPr id="12" name="Shape 10"/>
          <p:cNvSpPr/>
          <p:nvPr/>
        </p:nvSpPr>
        <p:spPr>
          <a:xfrm>
            <a:off x="914400" y="4526280"/>
            <a:ext cx="457200" cy="457200"/>
          </a:xfrm>
          <a:prstGeom prst="ellipse">
            <a:avLst/>
          </a:prstGeom>
          <a:solidFill>
            <a:srgbClr val="14161B"/>
          </a:solidFill>
          <a:ln/>
        </p:spPr>
      </p:sp>
      <p:sp>
        <p:nvSpPr>
          <p:cNvPr id="13" name="Text 11"/>
          <p:cNvSpPr txBox="1"/>
          <p:nvPr/>
        </p:nvSpPr>
        <p:spPr>
          <a:xfrm>
            <a:off x="91440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554480" y="4480560"/>
            <a:ext cx="4114800" cy="548640"/>
          </a:xfrm>
          <a:prstGeom prst="rect">
            <a:avLst/>
          </a:prstGeom>
          <a:noFill/>
          <a:ln/>
        </p:spPr>
        <p:txBody>
          <a:bodyPr wrap="square" lIns="0" tIns="0" rIns="0" bIns="0" rtlCol="0" anchor="ctr"/>
          <a:lstStyle/>
          <a:p>
            <a:pPr indent="0" marL="0">
              <a:buNone/>
            </a:pPr>
            <a:r>
              <a:rPr lang="en-US" sz="1600" dirty="0">
                <a:solidFill>
                  <a:srgbClr val="14161B"/>
                </a:solidFill>
                <a:latin typeface="Calibri" pitchFamily="34" charset="0"/>
                <a:ea typeface="Calibri" pitchFamily="34" charset="-122"/>
                <a:cs typeface="Calibri" pitchFamily="34" charset="-120"/>
              </a:rPr>
              <a:t>Tap Add to Home Screen, then Add</a:t>
            </a:r>
            <a:endParaRPr lang="en-US" sz="1600" dirty="0"/>
          </a:p>
        </p:txBody>
      </p:sp>
      <p:sp>
        <p:nvSpPr>
          <p:cNvPr id="15" name="Shape 13"/>
          <p:cNvSpPr/>
          <p:nvPr/>
        </p:nvSpPr>
        <p:spPr>
          <a:xfrm>
            <a:off x="6245352" y="2011680"/>
            <a:ext cx="5394960" cy="3566160"/>
          </a:xfrm>
          <a:prstGeom prst="roundRect">
            <a:avLst>
              <a:gd name="adj" fmla="val 4615"/>
            </a:avLst>
          </a:prstGeom>
          <a:solidFill>
            <a:srgbClr val="FFFFFF"/>
          </a:solidFill>
          <a:ln w="12700">
            <a:solidFill>
              <a:srgbClr val="E3E5E8"/>
            </a:solidFill>
            <a:prstDash val="solid"/>
          </a:ln>
        </p:spPr>
      </p:sp>
      <p:sp>
        <p:nvSpPr>
          <p:cNvPr id="16" name="Text 14"/>
          <p:cNvSpPr txBox="1"/>
          <p:nvPr/>
        </p:nvSpPr>
        <p:spPr>
          <a:xfrm>
            <a:off x="6611112" y="2240280"/>
            <a:ext cx="4754880" cy="502920"/>
          </a:xfrm>
          <a:prstGeom prst="rect">
            <a:avLst/>
          </a:prstGeom>
          <a:noFill/>
          <a:ln/>
        </p:spPr>
        <p:txBody>
          <a:bodyPr wrap="square" lIns="0" tIns="0" rIns="0" bIns="0" rtlCol="0" anchor="ctr"/>
          <a:lstStyle/>
          <a:p>
            <a:pPr indent="0" marL="0">
              <a:buNone/>
            </a:pPr>
            <a:r>
              <a:rPr lang="en-US" sz="2400" b="1" dirty="0">
                <a:solidFill>
                  <a:srgbClr val="1B7F86"/>
                </a:solidFill>
                <a:latin typeface="Calibri" pitchFamily="34" charset="0"/>
                <a:ea typeface="Calibri" pitchFamily="34" charset="-122"/>
                <a:cs typeface="Calibri" pitchFamily="34" charset="-120"/>
              </a:rPr>
              <a:t>Android · Chrome</a:t>
            </a:r>
            <a:endParaRPr lang="en-US" sz="2400" dirty="0"/>
          </a:p>
        </p:txBody>
      </p:sp>
      <p:sp>
        <p:nvSpPr>
          <p:cNvPr id="17" name="Shape 15"/>
          <p:cNvSpPr/>
          <p:nvPr/>
        </p:nvSpPr>
        <p:spPr>
          <a:xfrm>
            <a:off x="6611112" y="2971800"/>
            <a:ext cx="457200" cy="457200"/>
          </a:xfrm>
          <a:prstGeom prst="ellipse">
            <a:avLst/>
          </a:prstGeom>
          <a:solidFill>
            <a:srgbClr val="1B7F86"/>
          </a:solidFill>
          <a:ln/>
        </p:spPr>
      </p:sp>
      <p:sp>
        <p:nvSpPr>
          <p:cNvPr id="18" name="Text 16"/>
          <p:cNvSpPr txBox="1"/>
          <p:nvPr/>
        </p:nvSpPr>
        <p:spPr>
          <a:xfrm>
            <a:off x="6611112" y="2971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9" name="Text 17"/>
          <p:cNvSpPr txBox="1"/>
          <p:nvPr/>
        </p:nvSpPr>
        <p:spPr>
          <a:xfrm>
            <a:off x="7251192" y="2926080"/>
            <a:ext cx="4114800" cy="548640"/>
          </a:xfrm>
          <a:prstGeom prst="rect">
            <a:avLst/>
          </a:prstGeom>
          <a:noFill/>
          <a:ln/>
        </p:spPr>
        <p:txBody>
          <a:bodyPr wrap="square" lIns="0" tIns="0" rIns="0" bIns="0" rtlCol="0" anchor="ctr"/>
          <a:lstStyle/>
          <a:p>
            <a:pPr indent="0" marL="0">
              <a:buNone/>
            </a:pPr>
            <a:r>
              <a:rPr lang="en-US" sz="1600" dirty="0">
                <a:solidFill>
                  <a:srgbClr val="14161B"/>
                </a:solidFill>
                <a:latin typeface="Calibri" pitchFamily="34" charset="0"/>
                <a:ea typeface="Calibri" pitchFamily="34" charset="-122"/>
                <a:cs typeface="Calibri" pitchFamily="34" charset="-120"/>
              </a:rPr>
              <a:t>Open the app in Chrome</a:t>
            </a:r>
            <a:endParaRPr lang="en-US" sz="1600" dirty="0"/>
          </a:p>
        </p:txBody>
      </p:sp>
      <p:sp>
        <p:nvSpPr>
          <p:cNvPr id="20" name="Shape 18"/>
          <p:cNvSpPr/>
          <p:nvPr/>
        </p:nvSpPr>
        <p:spPr>
          <a:xfrm>
            <a:off x="6611112" y="3749040"/>
            <a:ext cx="457200" cy="457200"/>
          </a:xfrm>
          <a:prstGeom prst="ellipse">
            <a:avLst/>
          </a:prstGeom>
          <a:solidFill>
            <a:srgbClr val="1B7F86"/>
          </a:solidFill>
          <a:ln/>
        </p:spPr>
      </p:sp>
      <p:sp>
        <p:nvSpPr>
          <p:cNvPr id="21" name="Text 19"/>
          <p:cNvSpPr txBox="1"/>
          <p:nvPr/>
        </p:nvSpPr>
        <p:spPr>
          <a:xfrm>
            <a:off x="6611112" y="3749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txBox="1"/>
          <p:nvPr/>
        </p:nvSpPr>
        <p:spPr>
          <a:xfrm>
            <a:off x="7251192" y="3703320"/>
            <a:ext cx="4114800" cy="548640"/>
          </a:xfrm>
          <a:prstGeom prst="rect">
            <a:avLst/>
          </a:prstGeom>
          <a:noFill/>
          <a:ln/>
        </p:spPr>
        <p:txBody>
          <a:bodyPr wrap="square" lIns="0" tIns="0" rIns="0" bIns="0" rtlCol="0" anchor="ctr"/>
          <a:lstStyle/>
          <a:p>
            <a:pPr indent="0" marL="0">
              <a:buNone/>
            </a:pPr>
            <a:r>
              <a:rPr lang="en-US" sz="1600" dirty="0">
                <a:solidFill>
                  <a:srgbClr val="14161B"/>
                </a:solidFill>
                <a:latin typeface="Calibri" pitchFamily="34" charset="0"/>
                <a:ea typeface="Calibri" pitchFamily="34" charset="-122"/>
                <a:cs typeface="Calibri" pitchFamily="34" charset="-120"/>
              </a:rPr>
              <a:t>Tap the ⋮ menu</a:t>
            </a:r>
            <a:endParaRPr lang="en-US" sz="1600" dirty="0"/>
          </a:p>
        </p:txBody>
      </p:sp>
      <p:sp>
        <p:nvSpPr>
          <p:cNvPr id="23" name="Shape 21"/>
          <p:cNvSpPr/>
          <p:nvPr/>
        </p:nvSpPr>
        <p:spPr>
          <a:xfrm>
            <a:off x="6611112" y="4526280"/>
            <a:ext cx="457200" cy="457200"/>
          </a:xfrm>
          <a:prstGeom prst="ellipse">
            <a:avLst/>
          </a:prstGeom>
          <a:solidFill>
            <a:srgbClr val="1B7F86"/>
          </a:solidFill>
          <a:ln/>
        </p:spPr>
      </p:sp>
      <p:sp>
        <p:nvSpPr>
          <p:cNvPr id="24" name="Text 22"/>
          <p:cNvSpPr txBox="1"/>
          <p:nvPr/>
        </p:nvSpPr>
        <p:spPr>
          <a:xfrm>
            <a:off x="6611112"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5" name="Text 23"/>
          <p:cNvSpPr txBox="1"/>
          <p:nvPr/>
        </p:nvSpPr>
        <p:spPr>
          <a:xfrm>
            <a:off x="7251192" y="4480560"/>
            <a:ext cx="4114800" cy="548640"/>
          </a:xfrm>
          <a:prstGeom prst="rect">
            <a:avLst/>
          </a:prstGeom>
          <a:noFill/>
          <a:ln/>
        </p:spPr>
        <p:txBody>
          <a:bodyPr wrap="square" lIns="0" tIns="0" rIns="0" bIns="0" rtlCol="0" anchor="ctr"/>
          <a:lstStyle/>
          <a:p>
            <a:pPr indent="0" marL="0">
              <a:buNone/>
            </a:pPr>
            <a:r>
              <a:rPr lang="en-US" sz="1600" dirty="0">
                <a:solidFill>
                  <a:srgbClr val="14161B"/>
                </a:solidFill>
                <a:latin typeface="Calibri" pitchFamily="34" charset="0"/>
                <a:ea typeface="Calibri" pitchFamily="34" charset="-122"/>
                <a:cs typeface="Calibri" pitchFamily="34" charset="-120"/>
              </a:rPr>
              <a:t>Tap Install app or Add to Home screen</a:t>
            </a:r>
            <a:endParaRPr lang="en-US" sz="1600" dirty="0"/>
          </a:p>
        </p:txBody>
      </p:sp>
      <p:sp>
        <p:nvSpPr>
          <p:cNvPr id="26" name="Text 24"/>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rgbClr val="5A606B"/>
                </a:solidFill>
                <a:latin typeface="Calibri" pitchFamily="34" charset="0"/>
                <a:ea typeface="Calibri" pitchFamily="34" charset="-122"/>
                <a:cs typeface="Calibri" pitchFamily="34" charset="-120"/>
              </a:rPr>
              <a:t>thepastor.github.io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F13"/>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EBB64E"/>
                </a:solidFill>
                <a:latin typeface="Courier New" pitchFamily="34" charset="0"/>
                <a:ea typeface="Courier New" pitchFamily="34" charset="-122"/>
                <a:cs typeface="Courier New" pitchFamily="34" charset="-120"/>
              </a:rPr>
              <a:t>[ TRY IT NOW ]</a:t>
            </a:r>
            <a:endParaRPr lang="en-US" sz="1300" dirty="0"/>
          </a:p>
        </p:txBody>
      </p:sp>
      <p:sp>
        <p:nvSpPr>
          <p:cNvPr id="3" name="Text 1"/>
          <p:cNvSpPr txBox="1"/>
          <p:nvPr/>
        </p:nvSpPr>
        <p:spPr>
          <a:xfrm>
            <a:off x="548640" y="822960"/>
            <a:ext cx="6858000"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Two-minute challenge</a:t>
            </a:r>
            <a:endParaRPr lang="en-US" sz="4400" dirty="0"/>
          </a:p>
        </p:txBody>
      </p:sp>
      <p:sp>
        <p:nvSpPr>
          <p:cNvPr id="4" name="Shape 2"/>
          <p:cNvSpPr/>
          <p:nvPr/>
        </p:nvSpPr>
        <p:spPr>
          <a:xfrm>
            <a:off x="640080" y="2194560"/>
            <a:ext cx="457200" cy="457200"/>
          </a:xfrm>
          <a:prstGeom prst="ellipse">
            <a:avLst/>
          </a:prstGeom>
          <a:solidFill>
            <a:srgbClr val="EBB64E"/>
          </a:solidFill>
          <a:ln/>
        </p:spPr>
      </p:sp>
      <p:sp>
        <p:nvSpPr>
          <p:cNvPr id="5" name="Text 3"/>
          <p:cNvSpPr txBox="1"/>
          <p:nvPr/>
        </p:nvSpPr>
        <p:spPr>
          <a:xfrm>
            <a:off x="640080" y="2194560"/>
            <a:ext cx="457200" cy="457200"/>
          </a:xfrm>
          <a:prstGeom prst="rect">
            <a:avLst/>
          </a:prstGeom>
          <a:noFill/>
          <a:ln/>
        </p:spPr>
        <p:txBody>
          <a:bodyPr wrap="square" lIns="0" tIns="0" rIns="0" bIns="0" rtlCol="0" anchor="ctr"/>
          <a:lstStyle/>
          <a:p>
            <a:pPr algn="ctr" indent="0" marL="0">
              <a:buNone/>
            </a:pPr>
            <a:r>
              <a:rPr lang="en-US" sz="1600" b="1" dirty="0">
                <a:solidFill>
                  <a:srgbClr val="14161B"/>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98448" y="2157984"/>
            <a:ext cx="585216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Scan the code</a:t>
            </a:r>
            <a:endParaRPr lang="en-US" sz="1900" dirty="0"/>
          </a:p>
        </p:txBody>
      </p:sp>
      <p:sp>
        <p:nvSpPr>
          <p:cNvPr id="7" name="Text 5"/>
          <p:cNvSpPr txBox="1"/>
          <p:nvPr/>
        </p:nvSpPr>
        <p:spPr>
          <a:xfrm>
            <a:off x="1298448" y="2496312"/>
            <a:ext cx="5852160" cy="548640"/>
          </a:xfrm>
          <a:prstGeom prst="rect">
            <a:avLst/>
          </a:prstGeom>
          <a:noFill/>
          <a:ln/>
        </p:spPr>
        <p:txBody>
          <a:bodyPr wrap="square" lIns="0" tIns="0" rIns="0" bIns="0" rtlCol="0" anchor="t"/>
          <a:lstStyle/>
          <a:p>
            <a:pPr indent="0" marL="0">
              <a:buNone/>
            </a:pPr>
            <a:r>
              <a:rPr lang="en-US" sz="1450" dirty="0">
                <a:solidFill>
                  <a:srgbClr val="B4BAC4"/>
                </a:solidFill>
                <a:latin typeface="Calibri" pitchFamily="34" charset="0"/>
                <a:ea typeface="Calibri" pitchFamily="34" charset="-122"/>
                <a:cs typeface="Calibri" pitchFamily="34" charset="-120"/>
              </a:rPr>
              <a:t>Opens the JohnsonXCorp homepage on your phone.</a:t>
            </a:r>
            <a:endParaRPr lang="en-US" sz="1450" dirty="0"/>
          </a:p>
        </p:txBody>
      </p:sp>
      <p:sp>
        <p:nvSpPr>
          <p:cNvPr id="8" name="Shape 6"/>
          <p:cNvSpPr/>
          <p:nvPr/>
        </p:nvSpPr>
        <p:spPr>
          <a:xfrm>
            <a:off x="640080" y="3127248"/>
            <a:ext cx="457200" cy="457200"/>
          </a:xfrm>
          <a:prstGeom prst="ellipse">
            <a:avLst/>
          </a:prstGeom>
          <a:solidFill>
            <a:srgbClr val="EBB64E"/>
          </a:solidFill>
          <a:ln/>
        </p:spPr>
      </p:sp>
      <p:sp>
        <p:nvSpPr>
          <p:cNvPr id="9" name="Text 7"/>
          <p:cNvSpPr txBox="1"/>
          <p:nvPr/>
        </p:nvSpPr>
        <p:spPr>
          <a:xfrm>
            <a:off x="640080" y="3127248"/>
            <a:ext cx="457200" cy="457200"/>
          </a:xfrm>
          <a:prstGeom prst="rect">
            <a:avLst/>
          </a:prstGeom>
          <a:noFill/>
          <a:ln/>
        </p:spPr>
        <p:txBody>
          <a:bodyPr wrap="square" lIns="0" tIns="0" rIns="0" bIns="0" rtlCol="0" anchor="ctr"/>
          <a:lstStyle/>
          <a:p>
            <a:pPr algn="ctr" indent="0" marL="0">
              <a:buNone/>
            </a:pPr>
            <a:r>
              <a:rPr lang="en-US" sz="1600" b="1" dirty="0">
                <a:solidFill>
                  <a:srgbClr val="14161B"/>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98448" y="3090672"/>
            <a:ext cx="585216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Open Syllabus Desk</a:t>
            </a:r>
            <a:endParaRPr lang="en-US" sz="1900" dirty="0"/>
          </a:p>
        </p:txBody>
      </p:sp>
      <p:sp>
        <p:nvSpPr>
          <p:cNvPr id="11" name="Text 9"/>
          <p:cNvSpPr txBox="1"/>
          <p:nvPr/>
        </p:nvSpPr>
        <p:spPr>
          <a:xfrm>
            <a:off x="1298448" y="3429000"/>
            <a:ext cx="5852160" cy="548640"/>
          </a:xfrm>
          <a:prstGeom prst="rect">
            <a:avLst/>
          </a:prstGeom>
          <a:noFill/>
          <a:ln/>
        </p:spPr>
        <p:txBody>
          <a:bodyPr wrap="square" lIns="0" tIns="0" rIns="0" bIns="0" rtlCol="0" anchor="t"/>
          <a:lstStyle/>
          <a:p>
            <a:pPr indent="0" marL="0">
              <a:buNone/>
            </a:pPr>
            <a:r>
              <a:rPr lang="en-US" sz="1450" dirty="0">
                <a:solidFill>
                  <a:srgbClr val="B4BAC4"/>
                </a:solidFill>
                <a:latin typeface="Calibri" pitchFamily="34" charset="0"/>
                <a:ea typeface="Calibri" pitchFamily="34" charset="-122"/>
                <a:cs typeface="Calibri" pitchFamily="34" charset="-120"/>
              </a:rPr>
              <a:t>Tap Load an example term to see a full semester.</a:t>
            </a:r>
            <a:endParaRPr lang="en-US" sz="1450" dirty="0"/>
          </a:p>
        </p:txBody>
      </p:sp>
      <p:sp>
        <p:nvSpPr>
          <p:cNvPr id="12" name="Shape 10"/>
          <p:cNvSpPr/>
          <p:nvPr/>
        </p:nvSpPr>
        <p:spPr>
          <a:xfrm>
            <a:off x="640080" y="4059936"/>
            <a:ext cx="457200" cy="457200"/>
          </a:xfrm>
          <a:prstGeom prst="ellipse">
            <a:avLst/>
          </a:prstGeom>
          <a:solidFill>
            <a:srgbClr val="EBB64E"/>
          </a:solidFill>
          <a:ln/>
        </p:spPr>
      </p:sp>
      <p:sp>
        <p:nvSpPr>
          <p:cNvPr id="13" name="Text 11"/>
          <p:cNvSpPr txBox="1"/>
          <p:nvPr/>
        </p:nvSpPr>
        <p:spPr>
          <a:xfrm>
            <a:off x="640080" y="4059936"/>
            <a:ext cx="457200" cy="457200"/>
          </a:xfrm>
          <a:prstGeom prst="rect">
            <a:avLst/>
          </a:prstGeom>
          <a:noFill/>
          <a:ln/>
        </p:spPr>
        <p:txBody>
          <a:bodyPr wrap="square" lIns="0" tIns="0" rIns="0" bIns="0" rtlCol="0" anchor="ctr"/>
          <a:lstStyle/>
          <a:p>
            <a:pPr algn="ctr" indent="0" marL="0">
              <a:buNone/>
            </a:pPr>
            <a:r>
              <a:rPr lang="en-US" sz="1600" b="1" dirty="0">
                <a:solidFill>
                  <a:srgbClr val="14161B"/>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98448" y="4023360"/>
            <a:ext cx="585216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Add one real course</a:t>
            </a:r>
            <a:endParaRPr lang="en-US" sz="1900" dirty="0"/>
          </a:p>
        </p:txBody>
      </p:sp>
      <p:sp>
        <p:nvSpPr>
          <p:cNvPr id="15" name="Text 13"/>
          <p:cNvSpPr txBox="1"/>
          <p:nvPr/>
        </p:nvSpPr>
        <p:spPr>
          <a:xfrm>
            <a:off x="1298448" y="4361688"/>
            <a:ext cx="5852160" cy="548640"/>
          </a:xfrm>
          <a:prstGeom prst="rect">
            <a:avLst/>
          </a:prstGeom>
          <a:noFill/>
          <a:ln/>
        </p:spPr>
        <p:txBody>
          <a:bodyPr wrap="square" lIns="0" tIns="0" rIns="0" bIns="0" rtlCol="0" anchor="t"/>
          <a:lstStyle/>
          <a:p>
            <a:pPr indent="0" marL="0">
              <a:buNone/>
            </a:pPr>
            <a:r>
              <a:rPr lang="en-US" sz="1450" dirty="0">
                <a:solidFill>
                  <a:srgbClr val="B4BAC4"/>
                </a:solidFill>
                <a:latin typeface="Calibri" pitchFamily="34" charset="0"/>
                <a:ea typeface="Calibri" pitchFamily="34" charset="-122"/>
                <a:cs typeface="Calibri" pitchFamily="34" charset="-120"/>
              </a:rPr>
              <a:t>Paste this class's outline and watch the dates appear.</a:t>
            </a:r>
            <a:endParaRPr lang="en-US" sz="1450" dirty="0"/>
          </a:p>
        </p:txBody>
      </p:sp>
      <p:sp>
        <p:nvSpPr>
          <p:cNvPr id="16" name="Shape 14"/>
          <p:cNvSpPr/>
          <p:nvPr/>
        </p:nvSpPr>
        <p:spPr>
          <a:xfrm>
            <a:off x="7818120" y="1005840"/>
            <a:ext cx="3840480" cy="4846320"/>
          </a:xfrm>
          <a:prstGeom prst="roundRect">
            <a:avLst>
              <a:gd name="adj" fmla="val 5952"/>
            </a:avLst>
          </a:prstGeom>
          <a:solidFill>
            <a:srgbClr val="EBB64E"/>
          </a:solidFill>
          <a:ln/>
        </p:spPr>
      </p:sp>
      <p:pic>
        <p:nvPicPr>
          <p:cNvPr id="17" name="Image 0" descr="/home/claude/deck/img/qr-gold.png">    </p:cNvPr>
          <p:cNvPicPr>
            <a:picLocks noChangeAspect="1"/>
          </p:cNvPicPr>
          <p:nvPr/>
        </p:nvPicPr>
        <p:blipFill>
          <a:blip r:embed="rId1"/>
          <a:stretch>
            <a:fillRect/>
          </a:stretch>
        </p:blipFill>
        <p:spPr>
          <a:xfrm>
            <a:off x="8138160" y="1325880"/>
            <a:ext cx="3200400" cy="3200400"/>
          </a:xfrm>
          <a:prstGeom prst="rect">
            <a:avLst/>
          </a:prstGeom>
        </p:spPr>
      </p:pic>
      <p:sp>
        <p:nvSpPr>
          <p:cNvPr id="18" name="Text 15"/>
          <p:cNvSpPr txBox="1"/>
          <p:nvPr/>
        </p:nvSpPr>
        <p:spPr>
          <a:xfrm>
            <a:off x="7818120" y="4663440"/>
            <a:ext cx="3840480" cy="457200"/>
          </a:xfrm>
          <a:prstGeom prst="rect">
            <a:avLst/>
          </a:prstGeom>
          <a:noFill/>
          <a:ln/>
        </p:spPr>
        <p:txBody>
          <a:bodyPr wrap="square" lIns="0" tIns="0" rIns="0" bIns="0" rtlCol="0" anchor="ctr"/>
          <a:lstStyle/>
          <a:p>
            <a:pPr algn="ctr" indent="0" marL="0">
              <a:buNone/>
            </a:pPr>
            <a:r>
              <a:rPr lang="en-US" sz="2400" b="1" dirty="0">
                <a:solidFill>
                  <a:srgbClr val="14161B"/>
                </a:solidFill>
                <a:latin typeface="Calibri" pitchFamily="34" charset="0"/>
                <a:ea typeface="Calibri" pitchFamily="34" charset="-122"/>
                <a:cs typeface="Calibri" pitchFamily="34" charset="-120"/>
              </a:rPr>
              <a:t>Scan me</a:t>
            </a:r>
            <a:endParaRPr lang="en-US" sz="2400" dirty="0"/>
          </a:p>
        </p:txBody>
      </p:sp>
      <p:sp>
        <p:nvSpPr>
          <p:cNvPr id="19" name="Text 16"/>
          <p:cNvSpPr txBox="1"/>
          <p:nvPr/>
        </p:nvSpPr>
        <p:spPr>
          <a:xfrm>
            <a:off x="7818120" y="5120640"/>
            <a:ext cx="3840480" cy="365760"/>
          </a:xfrm>
          <a:prstGeom prst="rect">
            <a:avLst/>
          </a:prstGeom>
          <a:noFill/>
          <a:ln/>
        </p:spPr>
        <p:txBody>
          <a:bodyPr wrap="square" lIns="0" tIns="0" rIns="0" bIns="0" rtlCol="0" anchor="ctr"/>
          <a:lstStyle/>
          <a:p>
            <a:pPr algn="ctr" indent="0" marL="0">
              <a:buNone/>
            </a:pPr>
            <a:r>
              <a:rPr lang="en-US" sz="1500" dirty="0">
                <a:solidFill>
                  <a:srgbClr val="14161B"/>
                </a:solidFill>
                <a:latin typeface="Calibri" pitchFamily="34" charset="0"/>
                <a:ea typeface="Calibri" pitchFamily="34" charset="-122"/>
                <a:cs typeface="Calibri" pitchFamily="34" charset="-120"/>
              </a:rPr>
              <a:t>thepastor.github.io</a:t>
            </a:r>
            <a:endParaRPr lang="en-US" sz="1500" dirty="0"/>
          </a:p>
        </p:txBody>
      </p:sp>
      <p:sp>
        <p:nvSpPr>
          <p:cNvPr id="20" name="Text 17"/>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rgbClr val="8A919C"/>
                </a:solidFill>
                <a:latin typeface="Calibri" pitchFamily="34" charset="0"/>
                <a:ea typeface="Calibri" pitchFamily="34" charset="-122"/>
                <a:cs typeface="Calibri" pitchFamily="34" charset="-120"/>
              </a:rPr>
              <a:t>thepastor.github.io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F13"/>
        </a:solidFill>
      </p:bgPr>
    </p:bg>
    <p:spTree>
      <p:nvGrpSpPr>
        <p:cNvPr id="1" name=""/>
        <p:cNvGrpSpPr/>
        <p:nvPr/>
      </p:nvGrpSpPr>
      <p:grpSpPr>
        <a:xfrm>
          <a:off x="0" y="0"/>
          <a:ext cx="0" cy="0"/>
          <a:chOff x="0" y="0"/>
          <a:chExt cx="0" cy="0"/>
        </a:xfrm>
      </p:grpSpPr>
      <p:sp>
        <p:nvSpPr>
          <p:cNvPr id="2" name="Text 0"/>
          <p:cNvSpPr txBox="1"/>
          <p:nvPr/>
        </p:nvSpPr>
        <p:spPr>
          <a:xfrm>
            <a:off x="640080" y="548640"/>
            <a:ext cx="3657600" cy="40233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Johnson</a:t>
            </a:r>
            <a:pPr indent="0" marL="0">
              <a:buNone/>
            </a:pPr>
            <a:r>
              <a:rPr lang="en-US" sz="2200" b="1" dirty="0">
                <a:solidFill>
                  <a:srgbClr val="EBB64E"/>
                </a:solidFill>
                <a:latin typeface="Calibri" pitchFamily="34" charset="0"/>
                <a:ea typeface="Calibri" pitchFamily="34" charset="-122"/>
                <a:cs typeface="Calibri" pitchFamily="34" charset="-120"/>
              </a:rPr>
              <a:t>[X]</a:t>
            </a:r>
            <a:pPr indent="0" marL="0">
              <a:buNone/>
            </a:pPr>
            <a:r>
              <a:rPr lang="en-US" sz="2200" b="1" dirty="0">
                <a:solidFill>
                  <a:srgbClr val="FFFFFF"/>
                </a:solidFill>
                <a:latin typeface="Calibri" pitchFamily="34" charset="0"/>
                <a:ea typeface="Calibri" pitchFamily="34" charset="-122"/>
                <a:cs typeface="Calibri" pitchFamily="34" charset="-120"/>
              </a:rPr>
              <a:t>Corp</a:t>
            </a:r>
            <a:endParaRPr lang="en-US" sz="2200" dirty="0"/>
          </a:p>
        </p:txBody>
      </p:sp>
      <p:sp>
        <p:nvSpPr>
          <p:cNvPr id="3" name="Text 1"/>
          <p:cNvSpPr txBox="1"/>
          <p:nvPr/>
        </p:nvSpPr>
        <p:spPr>
          <a:xfrm>
            <a:off x="640080" y="1737360"/>
            <a:ext cx="7315200" cy="192024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Try one this week.</a:t>
            </a:r>
            <a:endParaRPr lang="en-US" sz="4600" dirty="0"/>
          </a:p>
          <a:p>
            <a:pPr indent="0" marL="0">
              <a:buNone/>
            </a:pPr>
            <a:r>
              <a:rPr lang="en-US" sz="4600" b="1" dirty="0">
                <a:solidFill>
                  <a:srgbClr val="EBB64E"/>
                </a:solidFill>
                <a:latin typeface="Calibri" pitchFamily="34" charset="0"/>
                <a:ea typeface="Calibri" pitchFamily="34" charset="-122"/>
                <a:cs typeface="Calibri" pitchFamily="34" charset="-120"/>
              </a:rPr>
              <a:t>Tell me what to build next.</a:t>
            </a:r>
            <a:endParaRPr lang="en-US" sz="4600" dirty="0"/>
          </a:p>
        </p:txBody>
      </p:sp>
      <p:sp>
        <p:nvSpPr>
          <p:cNvPr id="4" name="Text 2"/>
          <p:cNvSpPr txBox="1"/>
          <p:nvPr/>
        </p:nvSpPr>
        <p:spPr>
          <a:xfrm>
            <a:off x="640080" y="3749040"/>
            <a:ext cx="6583680" cy="731520"/>
          </a:xfrm>
          <a:prstGeom prst="rect">
            <a:avLst/>
          </a:prstGeom>
          <a:noFill/>
          <a:ln/>
        </p:spPr>
        <p:txBody>
          <a:bodyPr wrap="square" lIns="0" tIns="0" rIns="0" bIns="0" rtlCol="0" anchor="ctr"/>
          <a:lstStyle/>
          <a:p>
            <a:pPr indent="0" marL="0">
              <a:buNone/>
            </a:pPr>
            <a:r>
              <a:rPr lang="en-US" sz="1800" dirty="0">
                <a:solidFill>
                  <a:srgbClr val="B4BAC4"/>
                </a:solidFill>
                <a:latin typeface="Calibri" pitchFamily="34" charset="0"/>
                <a:ea typeface="Calibri" pitchFamily="34" charset="-122"/>
                <a:cs typeface="Calibri" pitchFamily="34" charset="-120"/>
              </a:rPr>
              <a:t>Found a bug, or want a feature for your program? I read every message.</a:t>
            </a:r>
            <a:endParaRPr lang="en-US" sz="1800" dirty="0"/>
          </a:p>
        </p:txBody>
      </p:sp>
      <p:sp>
        <p:nvSpPr>
          <p:cNvPr id="5" name="Text 3"/>
          <p:cNvSpPr txBox="1"/>
          <p:nvPr/>
        </p:nvSpPr>
        <p:spPr>
          <a:xfrm>
            <a:off x="640080" y="4663440"/>
            <a:ext cx="1463040" cy="320040"/>
          </a:xfrm>
          <a:prstGeom prst="rect">
            <a:avLst/>
          </a:prstGeom>
          <a:noFill/>
          <a:ln/>
        </p:spPr>
        <p:txBody>
          <a:bodyPr wrap="square" lIns="0" tIns="0" rIns="0" bIns="0" rtlCol="0" anchor="ctr"/>
          <a:lstStyle/>
          <a:p>
            <a:pPr indent="0" marL="0">
              <a:buNone/>
            </a:pPr>
            <a:r>
              <a:rPr lang="en-US" sz="1200" b="1" spc="200" kern="0" dirty="0">
                <a:solidFill>
                  <a:srgbClr val="8A919C"/>
                </a:solidFill>
                <a:latin typeface="Courier New" pitchFamily="34" charset="0"/>
                <a:ea typeface="Courier New" pitchFamily="34" charset="-122"/>
                <a:cs typeface="Courier New" pitchFamily="34" charset="-120"/>
              </a:rPr>
              <a:t>WEBSITE</a:t>
            </a:r>
            <a:endParaRPr lang="en-US" sz="1200" dirty="0"/>
          </a:p>
        </p:txBody>
      </p:sp>
      <p:sp>
        <p:nvSpPr>
          <p:cNvPr id="6" name="Text 4"/>
          <p:cNvSpPr txBox="1"/>
          <p:nvPr/>
        </p:nvSpPr>
        <p:spPr>
          <a:xfrm>
            <a:off x="2103120" y="4590288"/>
            <a:ext cx="54864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thepastor.github.io</a:t>
            </a:r>
            <a:endParaRPr lang="en-US" sz="2000" dirty="0"/>
          </a:p>
        </p:txBody>
      </p:sp>
      <p:sp>
        <p:nvSpPr>
          <p:cNvPr id="7" name="Text 5"/>
          <p:cNvSpPr txBox="1"/>
          <p:nvPr/>
        </p:nvSpPr>
        <p:spPr>
          <a:xfrm>
            <a:off x="640080" y="5349240"/>
            <a:ext cx="1463040" cy="320040"/>
          </a:xfrm>
          <a:prstGeom prst="rect">
            <a:avLst/>
          </a:prstGeom>
          <a:noFill/>
          <a:ln/>
        </p:spPr>
        <p:txBody>
          <a:bodyPr wrap="square" lIns="0" tIns="0" rIns="0" bIns="0" rtlCol="0" anchor="ctr"/>
          <a:lstStyle/>
          <a:p>
            <a:pPr indent="0" marL="0">
              <a:buNone/>
            </a:pPr>
            <a:r>
              <a:rPr lang="en-US" sz="1200" b="1" spc="200" kern="0" dirty="0">
                <a:solidFill>
                  <a:srgbClr val="8A919C"/>
                </a:solidFill>
                <a:latin typeface="Courier New" pitchFamily="34" charset="0"/>
                <a:ea typeface="Courier New" pitchFamily="34" charset="-122"/>
                <a:cs typeface="Courier New" pitchFamily="34" charset="-120"/>
              </a:rPr>
              <a:t>EMAIL</a:t>
            </a:r>
            <a:endParaRPr lang="en-US" sz="1200" dirty="0"/>
          </a:p>
        </p:txBody>
      </p:sp>
      <p:sp>
        <p:nvSpPr>
          <p:cNvPr id="8" name="Text 6"/>
          <p:cNvSpPr txBox="1"/>
          <p:nvPr/>
        </p:nvSpPr>
        <p:spPr>
          <a:xfrm>
            <a:off x="2103120" y="5276088"/>
            <a:ext cx="54864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johnsonxcorp@outlook.com</a:t>
            </a:r>
            <a:endParaRPr lang="en-US" sz="2000" dirty="0"/>
          </a:p>
        </p:txBody>
      </p:sp>
      <p:sp>
        <p:nvSpPr>
          <p:cNvPr id="9" name="Shape 7"/>
          <p:cNvSpPr/>
          <p:nvPr/>
        </p:nvSpPr>
        <p:spPr>
          <a:xfrm>
            <a:off x="8229600" y="1417320"/>
            <a:ext cx="3291840" cy="4023360"/>
          </a:xfrm>
          <a:prstGeom prst="roundRect">
            <a:avLst>
              <a:gd name="adj" fmla="val 5556"/>
            </a:avLst>
          </a:prstGeom>
          <a:solidFill>
            <a:srgbClr val="171B22"/>
          </a:solidFill>
          <a:ln w="12700">
            <a:solidFill>
              <a:srgbClr val="2C323C"/>
            </a:solidFill>
            <a:prstDash val="solid"/>
          </a:ln>
        </p:spPr>
      </p:sp>
      <p:pic>
        <p:nvPicPr>
          <p:cNvPr id="10" name="Image 0" descr="/home/claude/deck/img/qr-dark.png">    </p:cNvPr>
          <p:cNvPicPr>
            <a:picLocks noChangeAspect="1"/>
          </p:cNvPicPr>
          <p:nvPr/>
        </p:nvPicPr>
        <p:blipFill>
          <a:blip r:embed="rId1"/>
          <a:stretch>
            <a:fillRect/>
          </a:stretch>
        </p:blipFill>
        <p:spPr>
          <a:xfrm>
            <a:off x="8641080" y="1783080"/>
            <a:ext cx="2468880" cy="2468880"/>
          </a:xfrm>
          <a:prstGeom prst="rect">
            <a:avLst/>
          </a:prstGeom>
        </p:spPr>
      </p:pic>
      <p:sp>
        <p:nvSpPr>
          <p:cNvPr id="11" name="Text 8"/>
          <p:cNvSpPr txBox="1"/>
          <p:nvPr/>
        </p:nvSpPr>
        <p:spPr>
          <a:xfrm>
            <a:off x="8229600" y="4389120"/>
            <a:ext cx="3291840" cy="411480"/>
          </a:xfrm>
          <a:prstGeom prst="rect">
            <a:avLst/>
          </a:prstGeom>
          <a:noFill/>
          <a:ln/>
        </p:spPr>
        <p:txBody>
          <a:bodyPr wrap="square" lIns="0" tIns="0" rIns="0" bIns="0" rtlCol="0" anchor="ctr"/>
          <a:lstStyle/>
          <a:p>
            <a:pPr algn="ctr" indent="0" marL="0">
              <a:buNone/>
            </a:pPr>
            <a:r>
              <a:rPr lang="en-US" sz="2000" b="1" dirty="0">
                <a:solidFill>
                  <a:srgbClr val="EBB64E"/>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JohnsonXCorp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free apps for students — JohnsonXCorp</dc:title>
  <dc:subject>PptxGenJS Presentation</dc:subject>
  <dc:creator>JohnsonXCorp</dc:creator>
  <cp:lastModifiedBy>JohnsonXCorp</cp:lastModifiedBy>
  <cp:revision>1</cp:revision>
  <dcterms:created xsi:type="dcterms:W3CDTF">2026-09-23T23:14:04Z</dcterms:created>
  <dcterms:modified xsi:type="dcterms:W3CDTF">2026-09-23T23:14:04Z</dcterms:modified>
</cp:coreProperties>
</file>